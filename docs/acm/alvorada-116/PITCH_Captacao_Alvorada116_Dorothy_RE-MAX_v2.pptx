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2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534186" cy="9144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34186" y="0"/>
            <a:ext cx="3657508" cy="91440"/>
          </a:xfrm>
          <a:prstGeom prst="rect">
            <a:avLst/>
          </a:prstGeom>
          <a:solidFill>
            <a:srgbClr val="DC1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6012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9FC0FF"/>
                </a:solidFill>
                <a:latin typeface="Inter"/>
              </a:rPr>
              <a:t>RE/MAX GALERIA · PROPOSTA DE REPRESENTAÇÃO EXCLUSIVA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17320"/>
            <a:ext cx="7863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Inter"/>
              </a:rPr>
              <a:t>Saudações, Dorothy e família. Vamos vender o seu imóvel pelo melhor valor real.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886200"/>
            <a:ext cx="6949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00" b="0" i="0">
                <a:solidFill>
                  <a:srgbClr val="CFE0FF"/>
                </a:solidFill>
                <a:latin typeface="Inter"/>
              </a:rPr>
              <a:t>RE/MAX, Real Estate Maximum: o máximo de serviço ao cliente.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475488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Inter"/>
              </a:rPr>
              <a:t>Apto 52 · Ed. Manuela — Rua Alvorada, 116 · Vila Olímpia, São Paulo · Agosto de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4114800"/>
            <a:ext cx="45720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Inter"/>
              </a:rPr>
              <a:t>Luciana Borba</a:t>
            </a:r>
          </a:p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1250" b="0" i="0">
                <a:solidFill>
                  <a:srgbClr val="CFE0FF"/>
                </a:solidFill>
                <a:latin typeface="Inter"/>
              </a:rPr>
              <a:t>Consultora Imobiliária · RE/MAX Galeria · (11) 99995-2014</a:t>
            </a:r>
          </a:p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1250" b="0" i="0">
                <a:solidFill>
                  <a:srgbClr val="9FC0FF"/>
                </a:solidFill>
                <a:latin typeface="Inter"/>
              </a:rPr>
              <a:t>CRECI: 045063-J</a:t>
            </a:r>
          </a:p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1250" b="0" i="0">
                <a:solidFill>
                  <a:srgbClr val="9FC0FF"/>
                </a:solidFill>
                <a:latin typeface="Inter"/>
              </a:rPr>
              <a:t> </a:t>
            </a:r>
          </a:p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1250" b="0" i="0">
                <a:solidFill>
                  <a:srgbClr val="CFE0FF"/>
                </a:solidFill>
                <a:latin typeface="Inter"/>
              </a:rPr>
              <a:t>Rodrigo Lima · (11) 96371-0014 · CRECI: 242.934</a:t>
            </a:r>
          </a:p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1250" b="0" i="0">
                <a:solidFill>
                  <a:srgbClr val="CFE0FF"/>
                </a:solidFill>
                <a:latin typeface="Inter"/>
              </a:rPr>
              <a:t>Alameda dos Jurupis, 452 · Conj. 153 B · Moema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669280"/>
            <a:ext cx="3657600" cy="6400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Inter"/>
              </a:rPr>
              <a:t>RE/</a:t>
            </a:r>
            <a:r>
              <a:rPr sz="2600" b="1">
                <a:solidFill>
                  <a:srgbClr val="FF5A73"/>
                </a:solidFill>
                <a:latin typeface="Inter"/>
              </a:rPr>
              <a:t>MAX</a:t>
            </a:r>
          </a:p>
          <a:p>
            <a:r>
              <a:rPr sz="1100" b="1">
                <a:solidFill>
                  <a:srgbClr val="9FC0FF"/>
                </a:solidFill>
                <a:latin typeface="Inter"/>
              </a:rPr>
              <a:t>GALERIA · MOEMA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534186" cy="9144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34186" y="0"/>
            <a:ext cx="3657508" cy="91440"/>
          </a:xfrm>
          <a:prstGeom prst="rect">
            <a:avLst/>
          </a:prstGeom>
          <a:solidFill>
            <a:srgbClr val="DC1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50292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DC1431"/>
                </a:solidFill>
                <a:latin typeface="Inter"/>
              </a:rPr>
              <a:t>QUEM CONFIA A VENDA À RE/MAX ESTÁ COM A MAIOR REDE DO MUNDO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68680"/>
            <a:ext cx="110578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800" b="1" i="0">
                <a:solidFill>
                  <a:srgbClr val="012A6E"/>
                </a:solidFill>
                <a:latin typeface="Inter"/>
              </a:rPr>
              <a:t>A força que vai trabalhar pelo seu imóvel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83080"/>
            <a:ext cx="110578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600" b="0" i="0">
                <a:solidFill>
                  <a:srgbClr val="3A4258"/>
                </a:solidFill>
                <a:latin typeface="Inter"/>
              </a:rPr>
              <a:t>Fundada em 1973, a RE/MAX é a </a:t>
            </a:r>
            <a:r>
              <a:rPr sz="1600" b="1" i="0">
                <a:solidFill>
                  <a:srgbClr val="1A2233"/>
                </a:solidFill>
                <a:latin typeface="Inter"/>
              </a:rPr>
              <a:t>maior rede imobiliária do mundo em volume de vendas</a:t>
            </a:r>
            <a:r>
              <a:rPr sz="1600" b="0" i="0">
                <a:solidFill>
                  <a:srgbClr val="3A4258"/>
                </a:solidFill>
                <a:latin typeface="Inter"/>
              </a:rPr>
              <a:t> — e também a número 1 no Brasil.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542032"/>
            <a:ext cx="11057839" cy="841248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10160">
            <a:solidFill>
              <a:srgbClr val="CF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2542032"/>
            <a:ext cx="64008" cy="841248"/>
          </a:xfrm>
          <a:prstGeom prst="rect">
            <a:avLst/>
          </a:prstGeom>
          <a:solidFill>
            <a:srgbClr val="DC1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651760"/>
            <a:ext cx="1060063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1" i="1">
                <a:solidFill>
                  <a:srgbClr val="012A6E"/>
                </a:solidFill>
                <a:latin typeface="Inter"/>
              </a:rPr>
              <a:t>Faz parte do DNA da RE/MAX</a:t>
            </a:r>
            <a:r>
              <a:rPr sz="1350" b="0" i="1">
                <a:solidFill>
                  <a:srgbClr val="3A4258"/>
                </a:solidFill>
                <a:latin typeface="Inter"/>
              </a:rPr>
              <a:t> proporcionar ao cliente uma experiência com 100% de ética, comprometimento, excelência e resultado — revolucionando o mercado com método eficaz e inovador.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657600"/>
            <a:ext cx="3503066" cy="192024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0160">
            <a:solidFill>
              <a:srgbClr val="CF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858768"/>
            <a:ext cx="2991002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>
                <a:solidFill>
                  <a:srgbClr val="003DA5"/>
                </a:solidFill>
                <a:latin typeface="Inter"/>
              </a:rPr>
              <a:t>115</a:t>
            </a:r>
            <a:r>
              <a:rPr sz="1700" b="1">
                <a:solidFill>
                  <a:srgbClr val="7D8AA3"/>
                </a:solidFill>
                <a:latin typeface="Inter"/>
              </a:rPr>
              <a:t>+ países</a:t>
            </a:r>
          </a:p>
          <a:p>
            <a:pPr>
              <a:lnSpc>
                <a:spcPct val="105000"/>
              </a:lnSpc>
              <a:spcBef>
                <a:spcPts val="600"/>
              </a:spcBef>
            </a:pPr>
            <a:r>
              <a:rPr sz="1250">
                <a:solidFill>
                  <a:srgbClr val="3A4258"/>
                </a:solidFill>
                <a:latin typeface="Inter"/>
              </a:rPr>
              <a:t>144 mil+ corretores conectados pelo mesmo sistema, há mais de 50 anos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4314" y="3657600"/>
            <a:ext cx="3503066" cy="192024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0160">
            <a:solidFill>
              <a:srgbClr val="CF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0346" y="3858768"/>
            <a:ext cx="2991002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>
                <a:solidFill>
                  <a:srgbClr val="003DA5"/>
                </a:solidFill>
                <a:latin typeface="Inter"/>
              </a:rPr>
              <a:t>600</a:t>
            </a:r>
            <a:r>
              <a:rPr sz="1700" b="1">
                <a:solidFill>
                  <a:srgbClr val="7D8AA3"/>
                </a:solidFill>
                <a:latin typeface="Inter"/>
              </a:rPr>
              <a:t>+ lojas</a:t>
            </a:r>
          </a:p>
          <a:p>
            <a:pPr>
              <a:lnSpc>
                <a:spcPct val="105000"/>
              </a:lnSpc>
              <a:spcBef>
                <a:spcPts val="600"/>
              </a:spcBef>
            </a:pPr>
            <a:r>
              <a:rPr sz="1250">
                <a:solidFill>
                  <a:srgbClr val="3A4258"/>
                </a:solidFill>
                <a:latin typeface="Inter"/>
              </a:rPr>
              <a:t>No Brasil, em mais de 250 cidades, com 11 mil+ profissionais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1700" y="3657600"/>
            <a:ext cx="3503066" cy="1920240"/>
          </a:xfrm>
          <a:prstGeom prst="roundRect">
            <a:avLst>
              <a:gd name="adj" fmla="val 6000"/>
            </a:avLst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77732" y="3858768"/>
            <a:ext cx="2991002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Inter"/>
              </a:rPr>
              <a:t>R$ 14,3</a:t>
            </a:r>
            <a:r>
              <a:rPr sz="1700" b="1">
                <a:solidFill>
                  <a:srgbClr val="CFE0FF"/>
                </a:solidFill>
                <a:latin typeface="Inter"/>
              </a:rPr>
              <a:t>bi</a:t>
            </a:r>
          </a:p>
          <a:p>
            <a:pPr>
              <a:lnSpc>
                <a:spcPct val="105000"/>
              </a:lnSpc>
              <a:spcBef>
                <a:spcPts val="600"/>
              </a:spcBef>
            </a:pPr>
            <a:r>
              <a:rPr sz="1250">
                <a:solidFill>
                  <a:srgbClr val="CFE0FF"/>
                </a:solidFill>
                <a:latin typeface="Inter"/>
              </a:rPr>
              <a:t>Em VGV no Brasil em 2025 — número 1 em vendas no país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0080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50" b="1">
                <a:solidFill>
                  <a:srgbClr val="003DA5"/>
                </a:solidFill>
                <a:latin typeface="Inter"/>
              </a:rPr>
              <a:t>RE/</a:t>
            </a:r>
            <a:r>
              <a:rPr sz="1050" b="1">
                <a:solidFill>
                  <a:srgbClr val="DC1431"/>
                </a:solidFill>
                <a:latin typeface="Inter"/>
              </a:rPr>
              <a:t>MAX</a:t>
            </a:r>
            <a:r>
              <a:rPr sz="1050" b="1">
                <a:solidFill>
                  <a:srgbClr val="003DA5"/>
                </a:solidFill>
                <a:latin typeface="Inter"/>
              </a:rPr>
              <a:t> Galeria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11535" y="6400800"/>
            <a:ext cx="73152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100">
                <a:solidFill>
                  <a:srgbClr val="7D8AA3"/>
                </a:solidFill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534186" cy="9144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34186" y="0"/>
            <a:ext cx="3657508" cy="91440"/>
          </a:xfrm>
          <a:prstGeom prst="rect">
            <a:avLst/>
          </a:prstGeom>
          <a:solidFill>
            <a:srgbClr val="DC1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50292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DC1431"/>
                </a:solidFill>
                <a:latin typeface="Inter"/>
              </a:rPr>
              <a:t>CAPACIDADE DE VENDA · REDE + MÉTODO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68680"/>
            <a:ext cx="110578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000" b="1" i="0">
                <a:solidFill>
                  <a:srgbClr val="012A6E"/>
                </a:solidFill>
                <a:latin typeface="Inter"/>
              </a:rPr>
              <a:t>Vendemos em menos da metade do tempo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965960"/>
            <a:ext cx="4980279" cy="182880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0160">
            <a:solidFill>
              <a:srgbClr val="CF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286000"/>
            <a:ext cx="49802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3A4258"/>
                </a:solidFill>
                <a:latin typeface="Inter"/>
              </a:rPr>
              <a:t>490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00400"/>
            <a:ext cx="4431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0" i="0">
                <a:solidFill>
                  <a:srgbClr val="3A4258"/>
                </a:solidFill>
                <a:latin typeface="Inter"/>
              </a:rPr>
              <a:t>dias — prazo médio do mercado tradicional (OLX/Zap)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47207" y="2468880"/>
            <a:ext cx="1097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DC1431"/>
                </a:solidFill>
                <a:latin typeface="Inter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44487" y="1965960"/>
            <a:ext cx="4980279" cy="1828800"/>
          </a:xfrm>
          <a:prstGeom prst="roundRect">
            <a:avLst>
              <a:gd name="adj" fmla="val 6000"/>
            </a:avLst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44487" y="2286000"/>
            <a:ext cx="49802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FFFFFF"/>
                </a:solidFill>
                <a:latin typeface="Inter"/>
              </a:rPr>
              <a:t>140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18807" y="3200400"/>
            <a:ext cx="4431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Inter"/>
              </a:rPr>
              <a:t>dias — prazo médio de vendas da RE/MAX no Brasil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069080"/>
            <a:ext cx="3383280" cy="1920240"/>
          </a:xfrm>
          <a:prstGeom prst="roundRect">
            <a:avLst>
              <a:gd name="adj" fmla="val 6000"/>
            </a:avLst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4343400"/>
            <a:ext cx="2743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  <a:latin typeface="Inter"/>
              </a:rPr>
              <a:t>7</a:t>
            </a:r>
            <a:r>
              <a:rPr sz="4600" b="1" i="0">
                <a:solidFill>
                  <a:srgbClr val="CFE0FF"/>
                </a:solidFill>
                <a:latin typeface="Inter"/>
              </a:rPr>
              <a:t> de 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5212080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 i="0">
                <a:solidFill>
                  <a:srgbClr val="CFE0FF"/>
                </a:solidFill>
                <a:latin typeface="Inter"/>
              </a:rPr>
              <a:t>imóveis vendidos pela RE/MAX têm o comprador originado por outra imobiliária ou corretor parceiro.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5968" y="4251960"/>
            <a:ext cx="7308799" cy="1920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700" b="0" i="0">
                <a:solidFill>
                  <a:srgbClr val="3A4258"/>
                </a:solidFill>
                <a:latin typeface="Inter"/>
              </a:rPr>
              <a:t>Seu imóvel fica disponível para </a:t>
            </a:r>
            <a:r>
              <a:rPr sz="1700" b="1" i="0">
                <a:solidFill>
                  <a:srgbClr val="1A2233"/>
                </a:solidFill>
                <a:latin typeface="Inter"/>
              </a:rPr>
              <a:t>milhares de corretores</a:t>
            </a:r>
            <a:r>
              <a:rPr sz="1700" b="0" i="0">
                <a:solidFill>
                  <a:srgbClr val="3A4258"/>
                </a:solidFill>
                <a:latin typeface="Inter"/>
              </a:rPr>
              <a:t> — mas com </a:t>
            </a:r>
            <a:r>
              <a:rPr sz="1700" b="1" i="0">
                <a:solidFill>
                  <a:srgbClr val="1A2233"/>
                </a:solidFill>
                <a:latin typeface="Inter"/>
              </a:rPr>
              <a:t>uma só interlocutora</a:t>
            </a:r>
            <a:r>
              <a:rPr sz="1700" b="0" i="0">
                <a:solidFill>
                  <a:srgbClr val="3A4258"/>
                </a:solidFill>
                <a:latin typeface="Inter"/>
              </a:rPr>
              <a:t>: a Luciana.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700" b="0" i="0">
                <a:solidFill>
                  <a:srgbClr val="3A4258"/>
                </a:solidFill>
                <a:latin typeface="Inter"/>
              </a:rPr>
              <a:t> 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700" b="0" i="0">
                <a:solidFill>
                  <a:srgbClr val="3A4258"/>
                </a:solidFill>
                <a:latin typeface="Inter"/>
              </a:rPr>
              <a:t>A rede amplia o alcance; a exclusividade garante a consistência. </a:t>
            </a:r>
            <a:r>
              <a:rPr sz="1700" b="1" i="0">
                <a:solidFill>
                  <a:srgbClr val="003DA5"/>
                </a:solidFill>
                <a:latin typeface="Inter"/>
              </a:rPr>
              <a:t>Mais alcance, mesma mensagem.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0080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50" b="1">
                <a:solidFill>
                  <a:srgbClr val="003DA5"/>
                </a:solidFill>
                <a:latin typeface="Inter"/>
              </a:rPr>
              <a:t>RE/</a:t>
            </a:r>
            <a:r>
              <a:rPr sz="1050" b="1">
                <a:solidFill>
                  <a:srgbClr val="DC1431"/>
                </a:solidFill>
                <a:latin typeface="Inter"/>
              </a:rPr>
              <a:t>MAX</a:t>
            </a:r>
            <a:r>
              <a:rPr sz="1050" b="1">
                <a:solidFill>
                  <a:srgbClr val="003DA5"/>
                </a:solidFill>
                <a:latin typeface="Inter"/>
              </a:rPr>
              <a:t> Galeria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11535" y="6400800"/>
            <a:ext cx="73152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100">
                <a:solidFill>
                  <a:srgbClr val="7D8AA3"/>
                </a:solidFill>
                <a:latin typeface="Inte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534186" cy="9144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34186" y="0"/>
            <a:ext cx="3657508" cy="91440"/>
          </a:xfrm>
          <a:prstGeom prst="rect">
            <a:avLst/>
          </a:prstGeom>
          <a:solidFill>
            <a:srgbClr val="DC1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50292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DC1431"/>
                </a:solidFill>
                <a:latin typeface="Inter"/>
              </a:rPr>
              <a:t>PLANO DE COMERCIALIZAÇÃO · COMO A RE/MAX VENDE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68680"/>
            <a:ext cx="110578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600" b="1" i="0">
                <a:solidFill>
                  <a:srgbClr val="012A6E"/>
                </a:solidFill>
                <a:latin typeface="Inter"/>
              </a:rPr>
              <a:t>Uma venda boa e rápida nasce de estratégia, planejamento e execução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00" b="0" i="0">
                <a:solidFill>
                  <a:srgbClr val="3A4258"/>
                </a:solidFill>
                <a:latin typeface="Inter"/>
              </a:rPr>
              <a:t>Na RE/MAX, cada imóvel recebe um </a:t>
            </a:r>
            <a:r>
              <a:rPr sz="1600" b="1" i="0">
                <a:solidFill>
                  <a:srgbClr val="1A2233"/>
                </a:solidFill>
                <a:latin typeface="Inter"/>
              </a:rPr>
              <a:t>plano de comercialização estruturado</a:t>
            </a:r>
            <a:r>
              <a:rPr sz="1600" b="0" i="0">
                <a:solidFill>
                  <a:srgbClr val="3A4258"/>
                </a:solidFill>
                <a:latin typeface="Inter"/>
              </a:rPr>
              <a:t>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423160"/>
            <a:ext cx="5300319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1F9D57"/>
                </a:solidFill>
                <a:latin typeface="Inter"/>
              </a:rPr>
              <a:t>✔  </a:t>
            </a:r>
            <a:r>
              <a:rPr sz="1400" b="0">
                <a:solidFill>
                  <a:srgbClr val="3A4258"/>
                </a:solidFill>
                <a:latin typeface="Inter"/>
              </a:rPr>
              <a:t>Uma só corretora como interlocutora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1F9D57"/>
                </a:solidFill>
                <a:latin typeface="Inter"/>
              </a:rPr>
              <a:t>✔  </a:t>
            </a:r>
            <a:r>
              <a:rPr sz="1400" b="0">
                <a:solidFill>
                  <a:srgbClr val="3A4258"/>
                </a:solidFill>
                <a:latin typeface="Inter"/>
              </a:rPr>
              <a:t>Precificação baseada em análise de mercado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1F9D57"/>
                </a:solidFill>
                <a:latin typeface="Inter"/>
              </a:rPr>
              <a:t>✔  </a:t>
            </a:r>
            <a:r>
              <a:rPr sz="1400" b="0">
                <a:solidFill>
                  <a:srgbClr val="3A4258"/>
                </a:solidFill>
                <a:latin typeface="Inter"/>
              </a:rPr>
              <a:t>Produção de fotos e materiais de alta qualidade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1F9D57"/>
                </a:solidFill>
                <a:latin typeface="Inter"/>
              </a:rPr>
              <a:t>✔  </a:t>
            </a:r>
            <a:r>
              <a:rPr sz="1400" b="0">
                <a:solidFill>
                  <a:srgbClr val="3A4258"/>
                </a:solidFill>
                <a:latin typeface="Inter"/>
              </a:rPr>
              <a:t>Divulgação direcionada nos principais canais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1F9D57"/>
                </a:solidFill>
                <a:latin typeface="Inter"/>
              </a:rPr>
              <a:t>✔  </a:t>
            </a:r>
            <a:r>
              <a:rPr sz="1400" b="0">
                <a:solidFill>
                  <a:srgbClr val="3A4258"/>
                </a:solidFill>
                <a:latin typeface="Inter"/>
              </a:rPr>
              <a:t>Compartilhamento com ampla rede de corretores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447" y="2423160"/>
            <a:ext cx="5300319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1F9D57"/>
                </a:solidFill>
                <a:latin typeface="Inter"/>
              </a:rPr>
              <a:t>✔  </a:t>
            </a:r>
            <a:r>
              <a:rPr sz="1400" b="0">
                <a:solidFill>
                  <a:srgbClr val="3A4258"/>
                </a:solidFill>
                <a:latin typeface="Inter"/>
              </a:rPr>
              <a:t>Qualificação de compradores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1F9D57"/>
                </a:solidFill>
                <a:latin typeface="Inter"/>
              </a:rPr>
              <a:t>✔  </a:t>
            </a:r>
            <a:r>
              <a:rPr sz="1400" b="0">
                <a:solidFill>
                  <a:srgbClr val="3A4258"/>
                </a:solidFill>
                <a:latin typeface="Inter"/>
              </a:rPr>
              <a:t>Acompanhamento das visitas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1F9D57"/>
                </a:solidFill>
                <a:latin typeface="Inter"/>
              </a:rPr>
              <a:t>✔  </a:t>
            </a:r>
            <a:r>
              <a:rPr sz="1400" b="0">
                <a:solidFill>
                  <a:srgbClr val="3A4258"/>
                </a:solidFill>
                <a:latin typeface="Inter"/>
              </a:rPr>
              <a:t>Gestão das propostas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1F9D57"/>
                </a:solidFill>
                <a:latin typeface="Inter"/>
              </a:rPr>
              <a:t>✔  </a:t>
            </a:r>
            <a:r>
              <a:rPr sz="1400" b="0">
                <a:solidFill>
                  <a:srgbClr val="3A4258"/>
                </a:solidFill>
                <a:latin typeface="Inter"/>
              </a:rPr>
              <a:t>Condução da negociação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1F9D57"/>
                </a:solidFill>
                <a:latin typeface="Inter"/>
              </a:rPr>
              <a:t>✔  </a:t>
            </a:r>
            <a:r>
              <a:rPr sz="1400" b="0">
                <a:solidFill>
                  <a:srgbClr val="3A4258"/>
                </a:solidFill>
                <a:latin typeface="Inter"/>
              </a:rPr>
              <a:t>Relatórios periódicos de desempenho e feedback (a combinar)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5212080"/>
            <a:ext cx="11057839" cy="777240"/>
          </a:xfrm>
          <a:prstGeom prst="roundRect">
            <a:avLst>
              <a:gd name="adj" fmla="val 10000"/>
            </a:avLst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5285232"/>
            <a:ext cx="1050919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Inter"/>
              </a:rPr>
              <a:t>O resultado: </a:t>
            </a:r>
            <a:r>
              <a:rPr sz="1600" b="0" i="0">
                <a:solidFill>
                  <a:srgbClr val="CFE0FF"/>
                </a:solidFill>
                <a:latin typeface="Inter"/>
              </a:rPr>
              <a:t>mais visibilidade, mais visitas qualificadas e negociações mais assertivas.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0080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50" b="1">
                <a:solidFill>
                  <a:srgbClr val="003DA5"/>
                </a:solidFill>
                <a:latin typeface="Inter"/>
              </a:rPr>
              <a:t>RE/</a:t>
            </a:r>
            <a:r>
              <a:rPr sz="1050" b="1">
                <a:solidFill>
                  <a:srgbClr val="DC1431"/>
                </a:solidFill>
                <a:latin typeface="Inter"/>
              </a:rPr>
              <a:t>MAX</a:t>
            </a:r>
            <a:r>
              <a:rPr sz="1050" b="1">
                <a:solidFill>
                  <a:srgbClr val="003DA5"/>
                </a:solidFill>
                <a:latin typeface="Inter"/>
              </a:rPr>
              <a:t> Galeria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400800"/>
            <a:ext cx="73152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100">
                <a:solidFill>
                  <a:srgbClr val="7D8AA3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2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463040"/>
            <a:ext cx="1105783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0" b="1" i="0">
                <a:solidFill>
                  <a:srgbClr val="2A4D9E"/>
                </a:solidFill>
                <a:latin typeface="Inter"/>
              </a:rPr>
              <a:t>ACM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88036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600" b="1" i="0">
                <a:solidFill>
                  <a:srgbClr val="FFFFFF"/>
                </a:solidFill>
                <a:latin typeface="Inter"/>
              </a:rPr>
              <a:t>O seu imóvel e o valor que o mercado realmente paga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700" b="0" i="0">
                <a:solidFill>
                  <a:srgbClr val="CFE0FF"/>
                </a:solidFill>
                <a:latin typeface="Inter"/>
              </a:rPr>
              <a:t>A Análise Comparativa de Mercado — o método mais eficiente no mundo e no Brasil — apoiada em vendas registradas, não em achismo.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0080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50" b="1">
                <a:solidFill>
                  <a:srgbClr val="FFFFFF"/>
                </a:solidFill>
                <a:latin typeface="Inter"/>
              </a:rPr>
              <a:t>RE/</a:t>
            </a:r>
            <a:r>
              <a:rPr sz="1050" b="1">
                <a:solidFill>
                  <a:srgbClr val="FF5A73"/>
                </a:solidFill>
                <a:latin typeface="Inter"/>
              </a:rPr>
              <a:t>MAX</a:t>
            </a:r>
            <a:r>
              <a:rPr sz="1050" b="1">
                <a:solidFill>
                  <a:srgbClr val="FFFFFF"/>
                </a:solidFill>
                <a:latin typeface="Inter"/>
              </a:rPr>
              <a:t> Galeria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00800"/>
            <a:ext cx="73152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100">
                <a:solidFill>
                  <a:srgbClr val="CFE0FF"/>
                </a:solidFill>
                <a:latin typeface="Inte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534186" cy="9144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34186" y="0"/>
            <a:ext cx="3657508" cy="91440"/>
          </a:xfrm>
          <a:prstGeom prst="rect">
            <a:avLst/>
          </a:prstGeom>
          <a:solidFill>
            <a:srgbClr val="DC1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50292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DC1431"/>
                </a:solidFill>
                <a:latin typeface="Inter"/>
              </a:rPr>
              <a:t>SOBRE O SEU IMÓVEL · CARACTERÍSTICAS CONFIRMADAS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68680"/>
            <a:ext cx="110578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600" b="1" i="0">
                <a:solidFill>
                  <a:srgbClr val="012A6E"/>
                </a:solidFill>
                <a:latin typeface="Inter"/>
              </a:rPr>
              <a:t>Apto reformado em 2026 num prédio boutique de só 20 unidades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6583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50" b="0" i="0">
                <a:solidFill>
                  <a:srgbClr val="3A4258"/>
                </a:solidFill>
                <a:latin typeface="Inter"/>
              </a:rPr>
              <a:t>No coração da Vila Olímpia, o </a:t>
            </a:r>
            <a:r>
              <a:rPr sz="1450" b="1" i="0">
                <a:solidFill>
                  <a:srgbClr val="1A2233"/>
                </a:solidFill>
                <a:latin typeface="Inter"/>
              </a:rPr>
              <a:t>Ed. Manuela (1995)</a:t>
            </a:r>
            <a:r>
              <a:rPr sz="1450" b="0" i="0">
                <a:solidFill>
                  <a:srgbClr val="3A4258"/>
                </a:solidFill>
                <a:latin typeface="Inter"/>
              </a:rPr>
              <a:t> tem apenas </a:t>
            </a:r>
            <a:r>
              <a:rPr sz="1450" b="1" i="0">
                <a:solidFill>
                  <a:srgbClr val="1A2233"/>
                </a:solidFill>
                <a:latin typeface="Inter"/>
              </a:rPr>
              <a:t>2 apartamentos por andar</a:t>
            </a:r>
            <a:r>
              <a:rPr sz="1450" b="0" i="0">
                <a:solidFill>
                  <a:srgbClr val="3A4258"/>
                </a:solidFill>
                <a:latin typeface="Inter"/>
              </a:rPr>
              <a:t>. O apto 52 fica no </a:t>
            </a:r>
            <a:r>
              <a:rPr sz="1450" b="1" i="0">
                <a:solidFill>
                  <a:srgbClr val="1A2233"/>
                </a:solidFill>
                <a:latin typeface="Inter"/>
              </a:rPr>
              <a:t>5º de 10 andares</a:t>
            </a:r>
            <a:r>
              <a:rPr sz="1450" b="0" i="0">
                <a:solidFill>
                  <a:srgbClr val="3A4258"/>
                </a:solidFill>
                <a:latin typeface="Inter"/>
              </a:rPr>
              <a:t>, com a sala de frente para a rua, </a:t>
            </a:r>
            <a:r>
              <a:rPr sz="1450" b="1" i="0">
                <a:solidFill>
                  <a:srgbClr val="1A2233"/>
                </a:solidFill>
                <a:latin typeface="Inter"/>
              </a:rPr>
              <a:t>reformado em julho de 2026</a:t>
            </a:r>
            <a:r>
              <a:rPr sz="1450" b="0" i="0">
                <a:solidFill>
                  <a:srgbClr val="3A4258"/>
                </a:solidFill>
                <a:latin typeface="Inter"/>
              </a:rPr>
              <a:t> e pronto para morar.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834640"/>
            <a:ext cx="65836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rgbClr val="DC1431"/>
                </a:solidFill>
                <a:latin typeface="Inter"/>
              </a:rPr>
              <a:t>▪  </a:t>
            </a:r>
            <a:r>
              <a:rPr sz="1300" b="1">
                <a:solidFill>
                  <a:srgbClr val="1A2233"/>
                </a:solidFill>
                <a:latin typeface="Inter"/>
              </a:rPr>
              <a:t>2 dormitórios (1 suíte)</a:t>
            </a:r>
            <a:r>
              <a:rPr sz="1300" b="0">
                <a:solidFill>
                  <a:srgbClr val="3A4258"/>
                </a:solidFill>
                <a:latin typeface="Inter"/>
              </a:rPr>
              <a:t> — o 3º dormitório foi convertido em closet da suíte (reversível) — + lavabo, varanda e dependência completa.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rgbClr val="DC1431"/>
                </a:solidFill>
                <a:latin typeface="Inter"/>
              </a:rPr>
              <a:t>▪  </a:t>
            </a:r>
            <a:r>
              <a:rPr sz="1300" b="1">
                <a:solidFill>
                  <a:srgbClr val="1A2233"/>
                </a:solidFill>
                <a:latin typeface="Inter"/>
              </a:rPr>
              <a:t>Reforma de julho/2026:</a:t>
            </a:r>
            <a:r>
              <a:rPr sz="1300" b="0">
                <a:solidFill>
                  <a:srgbClr val="3A4258"/>
                </a:solidFill>
                <a:latin typeface="Inter"/>
              </a:rPr>
              <a:t> pintura 100%, registros, vasos sanitários e torneiras novos, piso de madeira restaurado.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rgbClr val="DC1431"/>
                </a:solidFill>
                <a:latin typeface="Inter"/>
              </a:rPr>
              <a:t>▪  </a:t>
            </a:r>
            <a:r>
              <a:rPr sz="1300" b="1">
                <a:solidFill>
                  <a:srgbClr val="1A2233"/>
                </a:solidFill>
                <a:latin typeface="Inter"/>
              </a:rPr>
              <a:t>Ventilação cruzada e janelas grandes:</a:t>
            </a:r>
            <a:r>
              <a:rPr sz="1300" b="0">
                <a:solidFill>
                  <a:srgbClr val="3A4258"/>
                </a:solidFill>
                <a:latin typeface="Inter"/>
              </a:rPr>
              <a:t> sala de frente, cozinha e lavanderia aos fundos, dormitórios laterais.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rgbClr val="DC1431"/>
                </a:solidFill>
                <a:latin typeface="Inter"/>
              </a:rPr>
              <a:t>▪  </a:t>
            </a:r>
            <a:r>
              <a:rPr sz="1300" b="1">
                <a:solidFill>
                  <a:srgbClr val="1A2233"/>
                </a:solidFill>
                <a:latin typeface="Inter"/>
              </a:rPr>
              <a:t>Prédio em dia:</a:t>
            </a:r>
            <a:r>
              <a:rPr sz="1300" b="0">
                <a:solidFill>
                  <a:srgbClr val="3A4258"/>
                </a:solidFill>
                <a:latin typeface="Inter"/>
              </a:rPr>
              <a:t> academia nova, playground, elevadores novos, AVCB e alarme de incêndio.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5120640"/>
            <a:ext cx="6583680" cy="9144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0160">
            <a:solidFill>
              <a:srgbClr val="CF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5120640"/>
            <a:ext cx="54864" cy="91440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5266944"/>
            <a:ext cx="62179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 i="0">
                <a:solidFill>
                  <a:srgbClr val="1A2233"/>
                </a:solidFill>
                <a:latin typeface="Inter"/>
              </a:rPr>
              <a:t>Due diligence antes do anúncio: </a:t>
            </a:r>
            <a:r>
              <a:rPr sz="1150" b="0" i="0">
                <a:solidFill>
                  <a:srgbClr val="3A4258"/>
                </a:solidFill>
                <a:latin typeface="Inter"/>
              </a:rPr>
              <a:t>confirmar o carnê de IPTU do próprio apto 52 e a averbação das 2 vagas na matrícula.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1828800"/>
            <a:ext cx="1949043" cy="1874519"/>
          </a:xfrm>
          <a:prstGeom prst="roundRect">
            <a:avLst>
              <a:gd name="adj" fmla="val 6000"/>
            </a:avLst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54111" y="2029968"/>
            <a:ext cx="1436979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Inter"/>
              </a:rPr>
              <a:t>113</a:t>
            </a:r>
            <a:r>
              <a:rPr sz="1700" b="1">
                <a:solidFill>
                  <a:srgbClr val="CFE0FF"/>
                </a:solidFill>
                <a:latin typeface="Inter"/>
              </a:rPr>
              <a:t> m²</a:t>
            </a:r>
          </a:p>
          <a:p>
            <a:pPr>
              <a:lnSpc>
                <a:spcPct val="105000"/>
              </a:lnSpc>
              <a:spcBef>
                <a:spcPts val="600"/>
              </a:spcBef>
            </a:pPr>
            <a:r>
              <a:rPr sz="1250">
                <a:solidFill>
                  <a:srgbClr val="CFE0FF"/>
                </a:solidFill>
                <a:latin typeface="Inter"/>
              </a:rPr>
              <a:t>Área útil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75723" y="1828800"/>
            <a:ext cx="1949043" cy="1874519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0160">
            <a:solidFill>
              <a:srgbClr val="CF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31755" y="2029968"/>
            <a:ext cx="1436979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>
                <a:solidFill>
                  <a:srgbClr val="003DA5"/>
                </a:solidFill>
                <a:latin typeface="Inter"/>
              </a:rPr>
              <a:t>2</a:t>
            </a:r>
          </a:p>
          <a:p>
            <a:pPr>
              <a:lnSpc>
                <a:spcPct val="105000"/>
              </a:lnSpc>
              <a:spcBef>
                <a:spcPts val="600"/>
              </a:spcBef>
            </a:pPr>
            <a:r>
              <a:rPr sz="1250">
                <a:solidFill>
                  <a:srgbClr val="3A4258"/>
                </a:solidFill>
                <a:latin typeface="Inter"/>
              </a:rPr>
              <a:t>Vagas privativas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886200"/>
            <a:ext cx="1949043" cy="1874519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0160">
            <a:solidFill>
              <a:srgbClr val="CF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54111" y="4087368"/>
            <a:ext cx="1436979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>
                <a:solidFill>
                  <a:srgbClr val="003DA5"/>
                </a:solidFill>
                <a:latin typeface="Inter"/>
              </a:rPr>
              <a:t>20</a:t>
            </a:r>
          </a:p>
          <a:p>
            <a:pPr>
              <a:lnSpc>
                <a:spcPct val="105000"/>
              </a:lnSpc>
              <a:spcBef>
                <a:spcPts val="600"/>
              </a:spcBef>
            </a:pPr>
            <a:r>
              <a:rPr sz="1250">
                <a:solidFill>
                  <a:srgbClr val="3A4258"/>
                </a:solidFill>
                <a:latin typeface="Inter"/>
              </a:rPr>
              <a:t>Unidades no prédio (2 por andar)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75723" y="3886200"/>
            <a:ext cx="1949043" cy="1874519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0160">
            <a:solidFill>
              <a:srgbClr val="CF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31755" y="4087368"/>
            <a:ext cx="1436979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003DA5"/>
                </a:solidFill>
                <a:latin typeface="Inter"/>
              </a:rPr>
              <a:t>R$ 250</a:t>
            </a:r>
            <a:r>
              <a:rPr sz="1700" b="1">
                <a:solidFill>
                  <a:srgbClr val="7D8AA3"/>
                </a:solidFill>
                <a:latin typeface="Inter"/>
              </a:rPr>
              <a:t> mil</a:t>
            </a:r>
          </a:p>
          <a:p>
            <a:pPr>
              <a:lnSpc>
                <a:spcPct val="105000"/>
              </a:lnSpc>
              <a:spcBef>
                <a:spcPts val="600"/>
              </a:spcBef>
            </a:pPr>
            <a:r>
              <a:rPr sz="1250">
                <a:solidFill>
                  <a:srgbClr val="3A4258"/>
                </a:solidFill>
                <a:latin typeface="Inter"/>
              </a:rPr>
              <a:t>Caixa do condomínio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0080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50" b="1">
                <a:solidFill>
                  <a:srgbClr val="003DA5"/>
                </a:solidFill>
                <a:latin typeface="Inter"/>
              </a:rPr>
              <a:t>RE/</a:t>
            </a:r>
            <a:r>
              <a:rPr sz="1050" b="1">
                <a:solidFill>
                  <a:srgbClr val="DC1431"/>
                </a:solidFill>
                <a:latin typeface="Inter"/>
              </a:rPr>
              <a:t>MAX</a:t>
            </a:r>
            <a:r>
              <a:rPr sz="1050" b="1">
                <a:solidFill>
                  <a:srgbClr val="003DA5"/>
                </a:solidFill>
                <a:latin typeface="Inter"/>
              </a:rPr>
              <a:t> Galeria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11535" y="6400800"/>
            <a:ext cx="73152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100">
                <a:solidFill>
                  <a:srgbClr val="7D8AA3"/>
                </a:solidFill>
                <a:latin typeface="Inter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534186" cy="9144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34186" y="0"/>
            <a:ext cx="3657508" cy="91440"/>
          </a:xfrm>
          <a:prstGeom prst="rect">
            <a:avLst/>
          </a:prstGeom>
          <a:solidFill>
            <a:srgbClr val="DC1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50292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DC1431"/>
                </a:solidFill>
                <a:latin typeface="Inter"/>
              </a:rPr>
              <a:t>PRECIFICAÇÃO HONESTA · OS DOIS LADOS DA BALANÇA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68680"/>
            <a:ext cx="110578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700" b="1" i="0">
                <a:solidFill>
                  <a:srgbClr val="012A6E"/>
                </a:solidFill>
                <a:latin typeface="Inter"/>
              </a:rPr>
              <a:t>O que joga a favor — e o que o comprador vai pesar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525459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1F9D57"/>
                </a:solidFill>
                <a:latin typeface="Inter"/>
              </a:rPr>
              <a:t>A FAVOR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194560"/>
            <a:ext cx="5254599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1F9D57"/>
                </a:solidFill>
                <a:latin typeface="Inter"/>
              </a:rPr>
              <a:t>✔  </a:t>
            </a:r>
            <a:r>
              <a:rPr sz="1250" b="1">
                <a:solidFill>
                  <a:srgbClr val="1A2233"/>
                </a:solidFill>
                <a:latin typeface="Inter"/>
              </a:rPr>
              <a:t>Reforma completa em julho/2026</a:t>
            </a:r>
            <a:r>
              <a:rPr sz="1250" b="0">
                <a:solidFill>
                  <a:srgbClr val="3A4258"/>
                </a:solidFill>
                <a:latin typeface="Inter"/>
              </a:rPr>
              <a:t> — excelente conservação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1F9D57"/>
                </a:solidFill>
                <a:latin typeface="Inter"/>
              </a:rPr>
              <a:t>✔  </a:t>
            </a:r>
            <a:r>
              <a:rPr sz="1250" b="1">
                <a:solidFill>
                  <a:srgbClr val="1A2233"/>
                </a:solidFill>
                <a:latin typeface="Inter"/>
              </a:rPr>
              <a:t>Boutique:</a:t>
            </a:r>
            <a:r>
              <a:rPr sz="1250" b="0">
                <a:solidFill>
                  <a:srgbClr val="3A4258"/>
                </a:solidFill>
                <a:latin typeface="Inter"/>
              </a:rPr>
              <a:t> 20 unidades, 2 aptos por andar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1F9D57"/>
                </a:solidFill>
                <a:latin typeface="Inter"/>
              </a:rPr>
              <a:t>✔  </a:t>
            </a:r>
            <a:r>
              <a:rPr sz="1250" b="0">
                <a:solidFill>
                  <a:srgbClr val="3A4258"/>
                </a:solidFill>
                <a:latin typeface="Inter"/>
              </a:rPr>
              <a:t>Ventilação cruzada e janelas grandes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1F9D57"/>
                </a:solidFill>
                <a:latin typeface="Inter"/>
              </a:rPr>
              <a:t>✔  </a:t>
            </a:r>
            <a:r>
              <a:rPr sz="1250" b="0">
                <a:solidFill>
                  <a:srgbClr val="3A4258"/>
                </a:solidFill>
                <a:latin typeface="Inter"/>
              </a:rPr>
              <a:t>Academia nova e playground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1F9D57"/>
                </a:solidFill>
                <a:latin typeface="Inter"/>
              </a:rPr>
              <a:t>✔  </a:t>
            </a:r>
            <a:r>
              <a:rPr sz="1250" b="0">
                <a:solidFill>
                  <a:srgbClr val="3A4258"/>
                </a:solidFill>
                <a:latin typeface="Inter"/>
              </a:rPr>
              <a:t>Manutenção em dia: elevadores novos, AVCB, alarme de incêndio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1F9D57"/>
                </a:solidFill>
                <a:latin typeface="Inter"/>
              </a:rPr>
              <a:t>✔  </a:t>
            </a:r>
            <a:r>
              <a:rPr sz="1250" b="0">
                <a:solidFill>
                  <a:srgbClr val="3A4258"/>
                </a:solidFill>
                <a:latin typeface="Inter"/>
              </a:rPr>
              <a:t>Caixa do condomínio: </a:t>
            </a:r>
            <a:r>
              <a:rPr sz="1250" b="1">
                <a:solidFill>
                  <a:srgbClr val="1A2233"/>
                </a:solidFill>
                <a:latin typeface="Inter"/>
              </a:rPr>
              <a:t>R$ 250 mil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1F9D57"/>
                </a:solidFill>
                <a:latin typeface="Inter"/>
              </a:rPr>
              <a:t>✔  </a:t>
            </a:r>
            <a:r>
              <a:rPr sz="1250" b="0">
                <a:solidFill>
                  <a:srgbClr val="3A4258"/>
                </a:solidFill>
                <a:latin typeface="Inter"/>
              </a:rPr>
              <a:t>Localização residencial: metrô Eucaliptos a 800 m, Hosp. Santa Paula a 150 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0167" y="1828800"/>
            <a:ext cx="525459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DC1431"/>
                </a:solidFill>
                <a:latin typeface="Inter"/>
              </a:rPr>
              <a:t>O QUE O COMPRADOR VAI PESAR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0167" y="2194560"/>
            <a:ext cx="5254599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DC1431"/>
                </a:solidFill>
                <a:latin typeface="Inter"/>
              </a:rPr>
              <a:t>—  </a:t>
            </a:r>
            <a:r>
              <a:rPr sz="1250">
                <a:solidFill>
                  <a:srgbClr val="3A4258"/>
                </a:solidFill>
                <a:latin typeface="Inter"/>
              </a:rPr>
              <a:t>Prédio com mais de 30 anos (1995)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DC1431"/>
                </a:solidFill>
                <a:latin typeface="Inter"/>
              </a:rPr>
              <a:t>—  </a:t>
            </a:r>
            <a:r>
              <a:rPr sz="1250">
                <a:solidFill>
                  <a:srgbClr val="3A4258"/>
                </a:solidFill>
                <a:latin typeface="Inter"/>
              </a:rPr>
              <a:t>2 dormitórios efetivos (o 3º virou closet)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DC1431"/>
                </a:solidFill>
                <a:latin typeface="Inter"/>
              </a:rPr>
              <a:t>—  </a:t>
            </a:r>
            <a:r>
              <a:rPr sz="1250">
                <a:solidFill>
                  <a:srgbClr val="3A4258"/>
                </a:solidFill>
                <a:latin typeface="Inter"/>
              </a:rPr>
              <a:t>Sem área de lazer completa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DC1431"/>
                </a:solidFill>
                <a:latin typeface="Inter"/>
              </a:rPr>
              <a:t>—  </a:t>
            </a:r>
            <a:r>
              <a:rPr sz="1250">
                <a:solidFill>
                  <a:srgbClr val="3A4258"/>
                </a:solidFill>
                <a:latin typeface="Inter"/>
              </a:rPr>
              <a:t>Garagem difícil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DC1431"/>
                </a:solidFill>
                <a:latin typeface="Inter"/>
              </a:rPr>
              <a:t>—  </a:t>
            </a:r>
            <a:r>
              <a:rPr sz="1250">
                <a:solidFill>
                  <a:srgbClr val="3A4258"/>
                </a:solidFill>
                <a:latin typeface="Inter"/>
              </a:rPr>
              <a:t>Sem ar-condicionado e sem gerador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DC1431"/>
                </a:solidFill>
                <a:latin typeface="Inter"/>
              </a:rPr>
              <a:t>—  </a:t>
            </a:r>
            <a:r>
              <a:rPr sz="1250">
                <a:solidFill>
                  <a:srgbClr val="3A4258"/>
                </a:solidFill>
                <a:latin typeface="Inter"/>
              </a:rPr>
              <a:t>Condomínio e IPTU altos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5486400"/>
            <a:ext cx="11057839" cy="777240"/>
          </a:xfrm>
          <a:prstGeom prst="roundRect">
            <a:avLst>
              <a:gd name="adj" fmla="val 10000"/>
            </a:avLst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5559552"/>
            <a:ext cx="1050919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Inter"/>
              </a:rPr>
              <a:t>É esse balanço que define a faixa realista. </a:t>
            </a:r>
            <a:r>
              <a:rPr sz="1350" b="0" i="0">
                <a:solidFill>
                  <a:srgbClr val="CFE0FF"/>
                </a:solidFill>
                <a:latin typeface="Inter"/>
              </a:rPr>
              <a:t>O comprador vai fazer exatamente esta conta — nós fazemos primeiro e chegamos com o preço certo.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0080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50" b="1">
                <a:solidFill>
                  <a:srgbClr val="003DA5"/>
                </a:solidFill>
                <a:latin typeface="Inter"/>
              </a:rPr>
              <a:t>RE/</a:t>
            </a:r>
            <a:r>
              <a:rPr sz="1050" b="1">
                <a:solidFill>
                  <a:srgbClr val="DC1431"/>
                </a:solidFill>
                <a:latin typeface="Inter"/>
              </a:rPr>
              <a:t>MAX</a:t>
            </a:r>
            <a:r>
              <a:rPr sz="1050" b="1">
                <a:solidFill>
                  <a:srgbClr val="003DA5"/>
                </a:solidFill>
                <a:latin typeface="Inter"/>
              </a:rPr>
              <a:t> Galeria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11535" y="6400800"/>
            <a:ext cx="73152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100">
                <a:solidFill>
                  <a:srgbClr val="7D8AA3"/>
                </a:solidFill>
                <a:latin typeface="Inter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534186" cy="9144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34186" y="0"/>
            <a:ext cx="3657508" cy="91440"/>
          </a:xfrm>
          <a:prstGeom prst="rect">
            <a:avLst/>
          </a:prstGeom>
          <a:solidFill>
            <a:srgbClr val="DC1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50292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DC1431"/>
                </a:solidFill>
                <a:latin typeface="Inter"/>
              </a:rPr>
              <a:t>METODOLOGIA · EVIDÊNCIA RASTREÁVEL, NÃO OPINIÃO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68680"/>
            <a:ext cx="110578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000" b="1" i="0">
                <a:solidFill>
                  <a:srgbClr val="012A6E"/>
                </a:solidFill>
                <a:latin typeface="Inter"/>
              </a:rPr>
              <a:t>Como chegamos ao valor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920240"/>
            <a:ext cx="3503066" cy="196596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0160">
            <a:solidFill>
              <a:srgbClr val="CF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21408"/>
            <a:ext cx="2991002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>
                <a:solidFill>
                  <a:srgbClr val="003DA5"/>
                </a:solidFill>
                <a:latin typeface="Inter"/>
              </a:rPr>
              <a:t>631</a:t>
            </a:r>
          </a:p>
          <a:p>
            <a:pPr>
              <a:lnSpc>
                <a:spcPct val="105000"/>
              </a:lnSpc>
              <a:spcBef>
                <a:spcPts val="600"/>
              </a:spcBef>
            </a:pPr>
            <a:r>
              <a:rPr sz="1250">
                <a:solidFill>
                  <a:srgbClr val="3A4258"/>
                </a:solidFill>
                <a:latin typeface="Inter"/>
              </a:rPr>
              <a:t>Apartamentos vendidos (ITBI/PMSP) num raio de 1.000 m, filtrados de 4.986 transações reais 2024–2026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4314" y="1920240"/>
            <a:ext cx="3503066" cy="196596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0160">
            <a:solidFill>
              <a:srgbClr val="CF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0346" y="2121408"/>
            <a:ext cx="2991002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>
                <a:solidFill>
                  <a:srgbClr val="003DA5"/>
                </a:solidFill>
                <a:latin typeface="Inter"/>
              </a:rPr>
              <a:t>53</a:t>
            </a:r>
          </a:p>
          <a:p>
            <a:pPr>
              <a:lnSpc>
                <a:spcPct val="105000"/>
              </a:lnSpc>
              <a:spcBef>
                <a:spcPts val="600"/>
              </a:spcBef>
            </a:pPr>
            <a:r>
              <a:rPr sz="1250">
                <a:solidFill>
                  <a:srgbClr val="3A4258"/>
                </a:solidFill>
                <a:latin typeface="Inter"/>
              </a:rPr>
              <a:t>Vendas do perfil exato do alvo — mesmo porte no cadastro municipal e prédios de 1985–2005 (o Manuela é de 1995)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1700" y="1920240"/>
            <a:ext cx="3503066" cy="1965960"/>
          </a:xfrm>
          <a:prstGeom prst="roundRect">
            <a:avLst>
              <a:gd name="adj" fmla="val 6000"/>
            </a:avLst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77732" y="2121408"/>
            <a:ext cx="2991002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Inter"/>
              </a:rPr>
              <a:t>IPTU</a:t>
            </a:r>
          </a:p>
          <a:p>
            <a:pPr>
              <a:lnSpc>
                <a:spcPct val="105000"/>
              </a:lnSpc>
              <a:spcBef>
                <a:spcPts val="600"/>
              </a:spcBef>
            </a:pPr>
            <a:r>
              <a:rPr sz="1250">
                <a:solidFill>
                  <a:srgbClr val="CFE0FF"/>
                </a:solidFill>
                <a:latin typeface="Inter"/>
              </a:rPr>
              <a:t>Carnê do próprio edifício ancora o piso de valor (venal R$ 1,10 mi)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4114800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50" b="0" i="0">
                <a:solidFill>
                  <a:srgbClr val="3A4258"/>
                </a:solidFill>
                <a:latin typeface="Inter"/>
              </a:rPr>
              <a:t>Cada comparável é uma </a:t>
            </a:r>
            <a:r>
              <a:rPr sz="1450" b="1" i="0">
                <a:solidFill>
                  <a:srgbClr val="1A2233"/>
                </a:solidFill>
                <a:latin typeface="Inter"/>
              </a:rPr>
              <a:t>transação registrada em cartório</a:t>
            </a:r>
            <a:r>
              <a:rPr sz="1450" b="0" i="0">
                <a:solidFill>
                  <a:srgbClr val="3A4258"/>
                </a:solidFill>
                <a:latin typeface="Inter"/>
              </a:rPr>
              <a:t>, rastreável pelo cadastro municipal (SQL). Preço de anúncio entra só como leitura de concorrência — </a:t>
            </a:r>
            <a:r>
              <a:rPr sz="1450" b="1" i="0">
                <a:solidFill>
                  <a:srgbClr val="1A2233"/>
                </a:solidFill>
                <a:latin typeface="Inter"/>
              </a:rPr>
              <a:t>nunca como verdade de valor</a:t>
            </a:r>
            <a:r>
              <a:rPr sz="1450" b="0" i="0">
                <a:solidFill>
                  <a:srgbClr val="3A4258"/>
                </a:solidFill>
                <a:latin typeface="Inter"/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846320"/>
            <a:ext cx="11057839" cy="8686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0160">
            <a:solidFill>
              <a:srgbClr val="CF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846320"/>
            <a:ext cx="54864" cy="86868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4992624"/>
            <a:ext cx="10692079" cy="5943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 i="0">
                <a:solidFill>
                  <a:srgbClr val="1A2233"/>
                </a:solidFill>
                <a:latin typeface="Inter"/>
              </a:rPr>
              <a:t>A idade do prédio é o fator que mais separa preço: </a:t>
            </a:r>
            <a:r>
              <a:rPr sz="1150" b="0" i="0">
                <a:solidFill>
                  <a:srgbClr val="3A4258"/>
                </a:solidFill>
                <a:latin typeface="Inter"/>
              </a:rPr>
              <a:t>no mesmo recorte de área, imóveis de todas as épocas têm mediana de R$ 1,95 mi — mas o estoque de 1985–2005 fica em R$ 1,31 mi. Comparar o Ed. Manuela com prédio novo inflaria o valor e travaria a venda.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5806440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 i="0">
                <a:solidFill>
                  <a:srgbClr val="7D8AA3"/>
                </a:solidFill>
                <a:latin typeface="Inter"/>
              </a:rPr>
              <a:t>Nota técnica: a comparação venda-contra-venda usa a base cadastral do IPTU — a mesma régua para todos os imóveis (no prédio, essa base inclui área comum e as 2 vagas). No anúncio, a área é sempre a útil: 113 m².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0080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50" b="1">
                <a:solidFill>
                  <a:srgbClr val="003DA5"/>
                </a:solidFill>
                <a:latin typeface="Inter"/>
              </a:rPr>
              <a:t>RE/</a:t>
            </a:r>
            <a:r>
              <a:rPr sz="1050" b="1">
                <a:solidFill>
                  <a:srgbClr val="DC1431"/>
                </a:solidFill>
                <a:latin typeface="Inter"/>
              </a:rPr>
              <a:t>MAX</a:t>
            </a:r>
            <a:r>
              <a:rPr sz="1050" b="1">
                <a:solidFill>
                  <a:srgbClr val="003DA5"/>
                </a:solidFill>
                <a:latin typeface="Inter"/>
              </a:rPr>
              <a:t> Galeria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11535" y="6400800"/>
            <a:ext cx="73152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100">
                <a:solidFill>
                  <a:srgbClr val="7D8AA3"/>
                </a:solidFill>
                <a:latin typeface="Inter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534186" cy="9144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34186" y="0"/>
            <a:ext cx="3657508" cy="91440"/>
          </a:xfrm>
          <a:prstGeom prst="rect">
            <a:avLst/>
          </a:prstGeom>
          <a:solidFill>
            <a:srgbClr val="DC1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50292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DC1431"/>
                </a:solidFill>
                <a:latin typeface="Inter"/>
              </a:rPr>
              <a:t>GEOGRAFIA · RAIO DE 1.000 M A PARTIR DO IMÓVEL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68680"/>
            <a:ext cx="110578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700" b="1" i="0">
                <a:solidFill>
                  <a:srgbClr val="012A6E"/>
                </a:solidFill>
                <a:latin typeface="Inter"/>
              </a:rPr>
              <a:t>Os comparáveis no entorno imediato</a:t>
            </a:r>
          </a:p>
        </p:txBody>
      </p:sp>
      <p:pic>
        <p:nvPicPr>
          <p:cNvPr id="7" name="Picture 6" descr="ACM_alvorada_ma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28800"/>
            <a:ext cx="5654842" cy="4297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37960" y="2057400"/>
            <a:ext cx="493776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rgbClr val="DC1431"/>
                </a:solidFill>
                <a:latin typeface="Inter"/>
              </a:rPr>
              <a:t>▪  </a:t>
            </a:r>
            <a:r>
              <a:rPr sz="1300" b="1">
                <a:solidFill>
                  <a:srgbClr val="E2231A"/>
                </a:solidFill>
                <a:latin typeface="Inter"/>
              </a:rPr>
              <a:t>Vermelho: </a:t>
            </a:r>
            <a:r>
              <a:rPr sz="1300" b="0">
                <a:solidFill>
                  <a:srgbClr val="3A4258"/>
                </a:solidFill>
                <a:latin typeface="Inter"/>
              </a:rPr>
              <a:t>o imóvel-alvo (Rua Alvorada, 116 — apto 52).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rgbClr val="DC1431"/>
                </a:solidFill>
                <a:latin typeface="Inter"/>
              </a:rPr>
              <a:t>▪  </a:t>
            </a:r>
            <a:r>
              <a:rPr sz="1300" b="1">
                <a:solidFill>
                  <a:srgbClr val="1F9D57"/>
                </a:solidFill>
                <a:latin typeface="Inter"/>
              </a:rPr>
              <a:t>Verde: </a:t>
            </a:r>
            <a:r>
              <a:rPr sz="1300" b="0">
                <a:solidFill>
                  <a:srgbClr val="3A4258"/>
                </a:solidFill>
                <a:latin typeface="Inter"/>
              </a:rPr>
              <a:t>o comparável interno — AP 51, no próprio Ed. Manuela.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rgbClr val="DC1431"/>
                </a:solidFill>
                <a:latin typeface="Inter"/>
              </a:rPr>
              <a:t>▪  </a:t>
            </a:r>
            <a:r>
              <a:rPr sz="1300" b="1">
                <a:solidFill>
                  <a:srgbClr val="E8A317"/>
                </a:solidFill>
                <a:latin typeface="Inter"/>
              </a:rPr>
              <a:t>Dourado (1–3): </a:t>
            </a:r>
            <a:r>
              <a:rPr sz="1300" b="0">
                <a:solidFill>
                  <a:srgbClr val="3A4258"/>
                </a:solidFill>
                <a:latin typeface="Inter"/>
              </a:rPr>
              <a:t>os 3 comparáveis de máxima aderência.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rgbClr val="DC1431"/>
                </a:solidFill>
                <a:latin typeface="Inter"/>
              </a:rPr>
              <a:t>▪  </a:t>
            </a:r>
            <a:r>
              <a:rPr sz="1300" b="1">
                <a:solidFill>
                  <a:srgbClr val="C8651F"/>
                </a:solidFill>
                <a:latin typeface="Inter"/>
              </a:rPr>
              <a:t>Laranja (4–5): </a:t>
            </a:r>
            <a:r>
              <a:rPr sz="1300" b="0">
                <a:solidFill>
                  <a:srgbClr val="3A4258"/>
                </a:solidFill>
                <a:latin typeface="Inter"/>
              </a:rPr>
              <a:t>reforço da amostra.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rgbClr val="DC1431"/>
                </a:solidFill>
                <a:latin typeface="Inter"/>
              </a:rPr>
              <a:t>▪  </a:t>
            </a:r>
            <a:r>
              <a:rPr sz="1300" b="1">
                <a:solidFill>
                  <a:srgbClr val="1E5AA8"/>
                </a:solidFill>
                <a:latin typeface="Inter"/>
              </a:rPr>
              <a:t>Azul: </a:t>
            </a:r>
            <a:r>
              <a:rPr sz="1300" b="0">
                <a:solidFill>
                  <a:srgbClr val="3A4258"/>
                </a:solidFill>
                <a:latin typeface="Inter"/>
              </a:rPr>
              <a:t>demais vendas do Top 20 no raio.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4892040"/>
            <a:ext cx="4937760" cy="105156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0160">
            <a:solidFill>
              <a:srgbClr val="CF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37960" y="4892040"/>
            <a:ext cx="54864" cy="105156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39128" y="5038344"/>
            <a:ext cx="4572000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 i="0">
                <a:solidFill>
                  <a:srgbClr val="3A4258"/>
                </a:solidFill>
                <a:latin typeface="Inter"/>
              </a:rPr>
              <a:t>Microrregião de valorização homogênea na Vila Olímpia — 62 vendas reais do recorte, com o comparável de ouro dentro do próprio prédio.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0080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50" b="1">
                <a:solidFill>
                  <a:srgbClr val="003DA5"/>
                </a:solidFill>
                <a:latin typeface="Inter"/>
              </a:rPr>
              <a:t>RE/</a:t>
            </a:r>
            <a:r>
              <a:rPr sz="1050" b="1">
                <a:solidFill>
                  <a:srgbClr val="DC1431"/>
                </a:solidFill>
                <a:latin typeface="Inter"/>
              </a:rPr>
              <a:t>MAX</a:t>
            </a:r>
            <a:r>
              <a:rPr sz="1050" b="1">
                <a:solidFill>
                  <a:srgbClr val="003DA5"/>
                </a:solidFill>
                <a:latin typeface="Inter"/>
              </a:rPr>
              <a:t> Galeria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400800"/>
            <a:ext cx="73152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100">
                <a:solidFill>
                  <a:srgbClr val="7D8AA3"/>
                </a:solidFill>
                <a:latin typeface="Inter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534186" cy="9144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34186" y="0"/>
            <a:ext cx="3657508" cy="91440"/>
          </a:xfrm>
          <a:prstGeom prst="rect">
            <a:avLst/>
          </a:prstGeom>
          <a:solidFill>
            <a:srgbClr val="DC1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50292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DC1431"/>
                </a:solidFill>
                <a:latin typeface="Inter"/>
              </a:rPr>
              <a:t>A CONSTRUÇÃO DO NÚMERO · TRÊS EVIDÊNCIAS INDEPENDENTES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68680"/>
            <a:ext cx="110578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800" b="1" i="0">
                <a:solidFill>
                  <a:srgbClr val="012A6E"/>
                </a:solidFill>
                <a:latin typeface="Inter"/>
              </a:rPr>
              <a:t>Três evidências convergem para a mesma faixa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74519"/>
            <a:ext cx="3503066" cy="2880360"/>
          </a:xfrm>
          <a:prstGeom prst="roundRect">
            <a:avLst>
              <a:gd name="adj" fmla="val 6000"/>
            </a:avLst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2057400"/>
            <a:ext cx="304586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Inter"/>
              </a:rPr>
              <a:t>1 · O vizinho de porta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606039"/>
            <a:ext cx="3045866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 i="0">
                <a:solidFill>
                  <a:srgbClr val="CFE0FF"/>
                </a:solidFill>
                <a:latin typeface="Inter"/>
              </a:rPr>
              <a:t>O apto 51 — mesmo prédio, mesmo 5º andar, mesma planta — vendido por </a:t>
            </a:r>
            <a:r>
              <a:rPr sz="1200" b="1" i="0">
                <a:solidFill>
                  <a:srgbClr val="FFFFFF"/>
                </a:solidFill>
                <a:latin typeface="Inter"/>
              </a:rPr>
              <a:t>R$ 1.325.000</a:t>
            </a:r>
            <a:r>
              <a:rPr sz="1200" b="0" i="0">
                <a:solidFill>
                  <a:srgbClr val="CFE0FF"/>
                </a:solidFill>
                <a:latin typeface="Inter"/>
              </a:rPr>
              <a:t> (set/2023), em compra e venda registrada. Corrigido pelo micro-mercado: </a:t>
            </a:r>
            <a:r>
              <a:rPr sz="1200" b="1" i="0">
                <a:solidFill>
                  <a:srgbClr val="FFFFFF"/>
                </a:solidFill>
                <a:latin typeface="Inter"/>
              </a:rPr>
              <a:t>~R$ 1,31 mi</a:t>
            </a:r>
            <a:r>
              <a:rPr sz="1200" b="0" i="0">
                <a:solidFill>
                  <a:srgbClr val="CFE0FF"/>
                </a:solidFill>
                <a:latin typeface="Inter"/>
              </a:rPr>
              <a:t> hoje. Não existe comparável melhor em uma ACM.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4314" y="1874519"/>
            <a:ext cx="3503066" cy="288036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0160">
            <a:solidFill>
              <a:srgbClr val="CF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914" y="2057400"/>
            <a:ext cx="304586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003DA5"/>
                </a:solidFill>
                <a:latin typeface="Inter"/>
              </a:rPr>
              <a:t>2 · O prédio gêmeo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914" y="2606039"/>
            <a:ext cx="3045866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 i="0">
                <a:solidFill>
                  <a:srgbClr val="3A4258"/>
                </a:solidFill>
                <a:latin typeface="Inter"/>
              </a:rPr>
              <a:t>Vahia de Abreu, 383 — mesma safra, a 390 m — teve </a:t>
            </a:r>
            <a:r>
              <a:rPr sz="1200" b="1" i="0">
                <a:solidFill>
                  <a:srgbClr val="1A2233"/>
                </a:solidFill>
                <a:latin typeface="Inter"/>
              </a:rPr>
              <a:t>10 vendas</a:t>
            </a:r>
            <a:r>
              <a:rPr sz="1200" b="0" i="0">
                <a:solidFill>
                  <a:srgbClr val="3A4258"/>
                </a:solidFill>
                <a:latin typeface="Inter"/>
              </a:rPr>
              <a:t> em 2024–26, entre </a:t>
            </a:r>
            <a:r>
              <a:rPr sz="1200" b="1" i="0">
                <a:solidFill>
                  <a:srgbClr val="1A2233"/>
                </a:solidFill>
                <a:latin typeface="Inter"/>
              </a:rPr>
              <a:t>R$ 1,00 e 1,24 mi</a:t>
            </a:r>
            <a:r>
              <a:rPr sz="1200" b="0" i="0">
                <a:solidFill>
                  <a:srgbClr val="3A4258"/>
                </a:solidFill>
                <a:latin typeface="Inter"/>
              </a:rPr>
              <a:t>. O Manuela vale mais: boutique de 20 unidades, 2 vagas e academia nova.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1700" y="1874519"/>
            <a:ext cx="3503066" cy="288036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0160">
            <a:solidFill>
              <a:srgbClr val="CF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50300" y="2057400"/>
            <a:ext cx="304586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003DA5"/>
                </a:solidFill>
                <a:latin typeface="Inter"/>
              </a:rPr>
              <a:t>3 · O mercado da região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0300" y="2606039"/>
            <a:ext cx="3045866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 i="0">
                <a:solidFill>
                  <a:srgbClr val="1A2233"/>
                </a:solidFill>
                <a:latin typeface="Inter"/>
              </a:rPr>
              <a:t>53 vendas reais</a:t>
            </a:r>
            <a:r>
              <a:rPr sz="1200" b="0" i="0">
                <a:solidFill>
                  <a:srgbClr val="3A4258"/>
                </a:solidFill>
                <a:latin typeface="Inter"/>
              </a:rPr>
              <a:t> do mesmo porte e da mesma safra no raio de 1.000 m — mediana de </a:t>
            </a:r>
            <a:r>
              <a:rPr sz="1200" b="1" i="0">
                <a:solidFill>
                  <a:srgbClr val="1A2233"/>
                </a:solidFill>
                <a:latin typeface="Inter"/>
              </a:rPr>
              <a:t>R$ 1,31 mi</a:t>
            </a:r>
            <a:r>
              <a:rPr sz="1200" b="0" i="0">
                <a:solidFill>
                  <a:srgbClr val="3A4258"/>
                </a:solidFill>
                <a:latin typeface="Inter"/>
              </a:rPr>
              <a:t>, batendo com a evidência nº 1.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983480"/>
            <a:ext cx="11057839" cy="731520"/>
          </a:xfrm>
          <a:prstGeom prst="roundRect">
            <a:avLst>
              <a:gd name="adj" fmla="val 10000"/>
            </a:avLst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5047488"/>
            <a:ext cx="10509199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Inter"/>
              </a:rPr>
              <a:t>Convergência: </a:t>
            </a:r>
            <a:r>
              <a:rPr sz="1350" b="0" i="0">
                <a:solidFill>
                  <a:srgbClr val="CFE0FF"/>
                </a:solidFill>
                <a:latin typeface="Inter"/>
              </a:rPr>
              <a:t>as três evidências apontam para a mesma região de valor — o fechamento realista é </a:t>
            </a:r>
            <a:r>
              <a:rPr sz="1350" b="1" i="0">
                <a:solidFill>
                  <a:srgbClr val="FFFFFF"/>
                </a:solidFill>
                <a:latin typeface="Inter"/>
              </a:rPr>
              <a:t>R$ 1,25–1,35 mi</a:t>
            </a:r>
            <a:r>
              <a:rPr sz="1350" b="0" i="0">
                <a:solidFill>
                  <a:srgbClr val="CFE0FF"/>
                </a:solidFill>
                <a:latin typeface="Inter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852160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 i="0">
                <a:solidFill>
                  <a:srgbClr val="7D8AA3"/>
                </a:solidFill>
                <a:latin typeface="Inter"/>
              </a:rPr>
              <a:t>As demais transações do próprio prédio não são referência de mercado (leilão, integralização de capital e uma venda atípica abaixo do valor venal). Se um comprador citar a mais baixa, a resposta está pronta: contra ela há uma venda de mercado no mesmo andar por R$ 1,325 mi.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50" b="1">
                <a:solidFill>
                  <a:srgbClr val="003DA5"/>
                </a:solidFill>
                <a:latin typeface="Inter"/>
              </a:rPr>
              <a:t>RE/</a:t>
            </a:r>
            <a:r>
              <a:rPr sz="1050" b="1">
                <a:solidFill>
                  <a:srgbClr val="DC1431"/>
                </a:solidFill>
                <a:latin typeface="Inter"/>
              </a:rPr>
              <a:t>MAX</a:t>
            </a:r>
            <a:r>
              <a:rPr sz="1050" b="1">
                <a:solidFill>
                  <a:srgbClr val="003DA5"/>
                </a:solidFill>
                <a:latin typeface="Inter"/>
              </a:rPr>
              <a:t> Galeria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11535" y="6400800"/>
            <a:ext cx="73152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100">
                <a:solidFill>
                  <a:srgbClr val="7D8AA3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534186" cy="9144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34186" y="0"/>
            <a:ext cx="3657508" cy="91440"/>
          </a:xfrm>
          <a:prstGeom prst="rect">
            <a:avLst/>
          </a:prstGeom>
          <a:solidFill>
            <a:srgbClr val="DC1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50292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DC1431"/>
                </a:solidFill>
                <a:latin typeface="Inter"/>
              </a:rPr>
              <a:t>A TESE CENTRAL · POR QUE PRECIFICAR CERTO PROTEGE O SEU VALOR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68680"/>
            <a:ext cx="110578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700" b="1" i="0">
                <a:solidFill>
                  <a:srgbClr val="012A6E"/>
                </a:solidFill>
                <a:latin typeface="Inter"/>
              </a:rPr>
              <a:t>O mercado fecha 25–30% abaixo do anúncio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 i="0">
                <a:solidFill>
                  <a:srgbClr val="3A4258"/>
                </a:solidFill>
                <a:latin typeface="Inter"/>
              </a:rPr>
              <a:t>Na régua que o comprador usa (R$/m² útil), o anúncio de </a:t>
            </a:r>
            <a:r>
              <a:rPr sz="1300" b="1" i="0">
                <a:solidFill>
                  <a:srgbClr val="1A2233"/>
                </a:solidFill>
                <a:latin typeface="Inter"/>
              </a:rPr>
              <a:t>R$ 1.390.000</a:t>
            </a:r>
            <a:r>
              <a:rPr sz="1300" b="0" i="0">
                <a:solidFill>
                  <a:srgbClr val="3A4258"/>
                </a:solidFill>
                <a:latin typeface="Inter"/>
              </a:rPr>
              <a:t> posiciona o seu apartamento com folga abaixo dos pedidos inflados da própria rua — e à frente do concorrente mais perigoso: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2377440"/>
          <a:ext cx="11064240" cy="26334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91840"/>
                <a:gridCol w="1188720"/>
                <a:gridCol w="1828800"/>
                <a:gridCol w="1645920"/>
                <a:gridCol w="310896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Inter"/>
                        </a:rPr>
                        <a:t>Concorrente (ofertas ativas)</a:t>
                      </a:r>
                    </a:p>
                  </a:txBody>
                  <a:tcPr marL="73152" marR="73152" marT="27432" marB="27432">
                    <a:solidFill>
                      <a:srgbClr val="012A6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Inter"/>
                        </a:rPr>
                        <a:t>Área útil</a:t>
                      </a:r>
                    </a:p>
                  </a:txBody>
                  <a:tcPr marL="73152" marR="73152" marT="27432" marB="27432">
                    <a:solidFill>
                      <a:srgbClr val="012A6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Inter"/>
                        </a:rPr>
                        <a:t>Pedido</a:t>
                      </a:r>
                    </a:p>
                  </a:txBody>
                  <a:tcPr marL="73152" marR="73152" marT="27432" marB="27432">
                    <a:solidFill>
                      <a:srgbClr val="012A6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Inter"/>
                        </a:rPr>
                        <a:t>R$/m² útil</a:t>
                      </a:r>
                    </a:p>
                  </a:txBody>
                  <a:tcPr marL="73152" marR="73152" marT="27432" marB="27432">
                    <a:solidFill>
                      <a:srgbClr val="012A6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Inter"/>
                        </a:rPr>
                        <a:t>vs. nosso anúncio</a:t>
                      </a:r>
                    </a:p>
                  </a:txBody>
                  <a:tcPr marL="73152" marR="73152" marT="27432" marB="27432">
                    <a:solidFill>
                      <a:srgbClr val="012A6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A4258"/>
                          </a:solidFill>
                          <a:latin typeface="Inter"/>
                        </a:rPr>
                        <a:t>R. do Rocio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A4258"/>
                          </a:solidFill>
                          <a:latin typeface="Inter"/>
                        </a:rPr>
                        <a:t>112 m²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A4258"/>
                          </a:solidFill>
                          <a:latin typeface="Inter"/>
                        </a:rPr>
                        <a:t>R$ 2.499.000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A4258"/>
                          </a:solidFill>
                          <a:latin typeface="Inter"/>
                        </a:rPr>
                        <a:t>R$ 22.313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A4258"/>
                          </a:solidFill>
                          <a:latin typeface="Inter"/>
                        </a:rPr>
                        <a:t>muito acima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A4258"/>
                          </a:solidFill>
                          <a:latin typeface="Inter"/>
                        </a:rPr>
                        <a:t>R. Alvorada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A4258"/>
                          </a:solidFill>
                          <a:latin typeface="Inter"/>
                        </a:rPr>
                        <a:t>109 m²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A4258"/>
                          </a:solidFill>
                          <a:latin typeface="Inter"/>
                        </a:rPr>
                        <a:t>R$ 2.200.000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A4258"/>
                          </a:solidFill>
                          <a:latin typeface="Inter"/>
                        </a:rPr>
                        <a:t>R$ 20.183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A4258"/>
                          </a:solidFill>
                          <a:latin typeface="Inter"/>
                        </a:rPr>
                        <a:t>muito acima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A4258"/>
                          </a:solidFill>
                          <a:latin typeface="Inter"/>
                        </a:rPr>
                        <a:t>R. Alvorada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A4258"/>
                          </a:solidFill>
                          <a:latin typeface="Inter"/>
                        </a:rPr>
                        <a:t>109 m²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A4258"/>
                          </a:solidFill>
                          <a:latin typeface="Inter"/>
                        </a:rPr>
                        <a:t>R$ 1.700.000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A4258"/>
                          </a:solidFill>
                          <a:latin typeface="Inter"/>
                        </a:rPr>
                        <a:t>R$ 15.596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A4258"/>
                          </a:solidFill>
                          <a:latin typeface="Inter"/>
                        </a:rPr>
                        <a:t>acima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Inter"/>
                        </a:rPr>
                        <a:t>SEU IMÓVEL (anúncio)</a:t>
                      </a:r>
                    </a:p>
                  </a:txBody>
                  <a:tcPr marL="73152" marR="73152" marT="27432" marB="27432">
                    <a:solidFill>
                      <a:srgbClr val="003DA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Inter"/>
                        </a:rPr>
                        <a:t>113 m²</a:t>
                      </a:r>
                    </a:p>
                  </a:txBody>
                  <a:tcPr marL="73152" marR="73152" marT="27432" marB="27432">
                    <a:solidFill>
                      <a:srgbClr val="003DA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Inter"/>
                        </a:rPr>
                        <a:t>R$ 1.390.000</a:t>
                      </a:r>
                    </a:p>
                  </a:txBody>
                  <a:tcPr marL="73152" marR="73152" marT="27432" marB="27432">
                    <a:solidFill>
                      <a:srgbClr val="003DA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Inter"/>
                        </a:rPr>
                        <a:t>R$ 12.301</a:t>
                      </a:r>
                    </a:p>
                  </a:txBody>
                  <a:tcPr marL="73152" marR="73152" marT="27432" marB="27432">
                    <a:solidFill>
                      <a:srgbClr val="003DA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Inter"/>
                        </a:rPr>
                        <a:t>—</a:t>
                      </a:r>
                    </a:p>
                  </a:txBody>
                  <a:tcPr marL="73152" marR="73152" marT="27432" marB="27432">
                    <a:solidFill>
                      <a:srgbClr val="003DA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A4258"/>
                          </a:solidFill>
                          <a:latin typeface="Inter"/>
                        </a:rPr>
                        <a:t>R. Casa do Ator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A4258"/>
                          </a:solidFill>
                          <a:latin typeface="Inter"/>
                        </a:rPr>
                        <a:t>115 m²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A4258"/>
                          </a:solidFill>
                          <a:latin typeface="Inter"/>
                        </a:rPr>
                        <a:t>R$ 1.280.000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A4258"/>
                          </a:solidFill>
                          <a:latin typeface="Inter"/>
                        </a:rPr>
                        <a:t>R$ 11.130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A4258"/>
                          </a:solidFill>
                          <a:latin typeface="Inter"/>
                        </a:rPr>
                        <a:t>abaixo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A4258"/>
                          </a:solidFill>
                          <a:latin typeface="Inter"/>
                        </a:rPr>
                        <a:t>Av. Dr. Cardoso de Melo (4 dorms)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A4258"/>
                          </a:solidFill>
                          <a:latin typeface="Inter"/>
                        </a:rPr>
                        <a:t>140 m²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A4258"/>
                          </a:solidFill>
                          <a:latin typeface="Inter"/>
                        </a:rPr>
                        <a:t>R$ 1.490.000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A4258"/>
                          </a:solidFill>
                          <a:latin typeface="Inter"/>
                        </a:rPr>
                        <a:t>R$ 10.643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A4258"/>
                          </a:solidFill>
                          <a:latin typeface="Inter"/>
                        </a:rPr>
                        <a:t>maior, preço total próximo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A4258"/>
                          </a:solidFill>
                          <a:latin typeface="Inter"/>
                        </a:rPr>
                        <a:t>R. Alvorada (1 vaga)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A4258"/>
                          </a:solidFill>
                          <a:latin typeface="Inter"/>
                        </a:rPr>
                        <a:t>110 m²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A4258"/>
                          </a:solidFill>
                          <a:latin typeface="Inter"/>
                        </a:rPr>
                        <a:t>R$ 1.170.000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A4258"/>
                          </a:solidFill>
                          <a:latin typeface="Inter"/>
                        </a:rPr>
                        <a:t>R$ 10.636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A4258"/>
                          </a:solidFill>
                          <a:latin typeface="Inter"/>
                        </a:rPr>
                        <a:t>abaixo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66928" y="5257800"/>
            <a:ext cx="11057839" cy="100584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0160">
            <a:solidFill>
              <a:srgbClr val="CF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5257800"/>
            <a:ext cx="54864" cy="100584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5404104"/>
            <a:ext cx="1069207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 i="0">
                <a:solidFill>
                  <a:srgbClr val="1A2233"/>
                </a:solidFill>
                <a:latin typeface="Inter"/>
              </a:rPr>
              <a:t>O alerta do R$ 1,5 mi: </a:t>
            </a:r>
            <a:r>
              <a:rPr sz="1100" b="0" i="0">
                <a:solidFill>
                  <a:srgbClr val="3A4258"/>
                </a:solidFill>
                <a:latin typeface="Inter"/>
              </a:rPr>
              <a:t>na Av. Dr. Cardoso de Melo, um apto de 140 m² úteis e 4 dormitórios pede R$ 1.490.000. Qualquer pedido nosso perto de R$ 1,5 mi compete de frente com ele — e perde. Os fechamentos reais equivalentes ficam em R$ 1,20–1,65 mi (gap de 25–30% sobre os anúncios). </a:t>
            </a:r>
            <a:r>
              <a:rPr sz="1100" b="1" i="0">
                <a:solidFill>
                  <a:srgbClr val="1A2233"/>
                </a:solidFill>
                <a:latin typeface="Inter"/>
              </a:rPr>
              <a:t>Precificar certo desde o início protege o seu patrimônio.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0080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50" b="1">
                <a:solidFill>
                  <a:srgbClr val="003DA5"/>
                </a:solidFill>
                <a:latin typeface="Inter"/>
              </a:rPr>
              <a:t>RE/</a:t>
            </a:r>
            <a:r>
              <a:rPr sz="1050" b="1">
                <a:solidFill>
                  <a:srgbClr val="DC1431"/>
                </a:solidFill>
                <a:latin typeface="Inter"/>
              </a:rPr>
              <a:t>MAX</a:t>
            </a:r>
            <a:r>
              <a:rPr sz="1050" b="1">
                <a:solidFill>
                  <a:srgbClr val="003DA5"/>
                </a:solidFill>
                <a:latin typeface="Inter"/>
              </a:rPr>
              <a:t> Galeria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400800"/>
            <a:ext cx="73152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100">
                <a:solidFill>
                  <a:srgbClr val="7D8AA3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2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9FC0FF"/>
                </a:solidFill>
                <a:latin typeface="Inter"/>
              </a:rPr>
              <a:t>SUGESTÃO RE/MAX GALERIA · RECOMENDAÇÃO DE PRECIFICAÇÃO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43000"/>
            <a:ext cx="110578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CFE0FF"/>
                </a:solidFill>
                <a:latin typeface="Inter"/>
              </a:rPr>
              <a:t>Anúncio recomendado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63040"/>
            <a:ext cx="6858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5400" b="1" i="0">
                <a:solidFill>
                  <a:srgbClr val="9FC0FF"/>
                </a:solidFill>
                <a:latin typeface="Inter"/>
              </a:rPr>
              <a:t>R$ </a:t>
            </a:r>
            <a:r>
              <a:rPr sz="5400" b="1" i="0">
                <a:solidFill>
                  <a:srgbClr val="FFFFFF"/>
                </a:solidFill>
                <a:latin typeface="Inter"/>
              </a:rPr>
              <a:t>1.390.000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0" y="1143000"/>
            <a:ext cx="46570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CFE0FF"/>
                </a:solidFill>
                <a:latin typeface="Inter"/>
              </a:rPr>
              <a:t>Fechamento esperado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1463040"/>
            <a:ext cx="5029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000" b="1" i="0">
                <a:solidFill>
                  <a:srgbClr val="9FC0FF"/>
                </a:solidFill>
                <a:latin typeface="Inter"/>
              </a:rPr>
              <a:t>R$ </a:t>
            </a:r>
            <a:r>
              <a:rPr sz="4000" b="1" i="0">
                <a:solidFill>
                  <a:srgbClr val="FFFFFF"/>
                </a:solidFill>
                <a:latin typeface="Inter"/>
              </a:rPr>
              <a:t>1,25–1,35</a:t>
            </a:r>
            <a:r>
              <a:rPr sz="4000" b="1" i="0">
                <a:solidFill>
                  <a:srgbClr val="9FC0FF"/>
                </a:solidFill>
                <a:latin typeface="Inter"/>
              </a:rPr>
              <a:t> mi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743200"/>
            <a:ext cx="110578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9FC0FF"/>
                </a:solidFill>
                <a:latin typeface="Inter"/>
              </a:rPr>
              <a:t>A RÉGUA DE VALOR (R$ MILHÕES)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154680"/>
            <a:ext cx="3533546" cy="1234440"/>
          </a:xfrm>
          <a:prstGeom prst="roundRect">
            <a:avLst>
              <a:gd name="adj" fmla="val 10000"/>
            </a:avLst>
          </a:prstGeom>
          <a:solidFill>
            <a:srgbClr val="013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3355848"/>
            <a:ext cx="335066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Inter"/>
              </a:rPr>
              <a:t>R$ 1,39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886200"/>
            <a:ext cx="335066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100" b="0" i="0">
                <a:solidFill>
                  <a:srgbClr val="CFE0FF"/>
                </a:solidFill>
                <a:latin typeface="Inter"/>
              </a:rPr>
              <a:t>Anúncio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9074" y="3154680"/>
            <a:ext cx="3533546" cy="1234440"/>
          </a:xfrm>
          <a:prstGeom prst="roundRect">
            <a:avLst>
              <a:gd name="adj" fmla="val 10000"/>
            </a:avLst>
          </a:prstGeom>
          <a:solidFill>
            <a:srgbClr val="DC1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20514" y="3355848"/>
            <a:ext cx="335066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Inter"/>
              </a:rPr>
              <a:t>R$ 1,25–1,35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0514" y="3886200"/>
            <a:ext cx="335066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100" b="0" i="0">
                <a:solidFill>
                  <a:srgbClr val="FFD9DF"/>
                </a:solidFill>
                <a:latin typeface="Inter"/>
              </a:rPr>
              <a:t>Fechamento esperado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1220" y="3154680"/>
            <a:ext cx="3533546" cy="1234440"/>
          </a:xfrm>
          <a:prstGeom prst="roundRect">
            <a:avLst>
              <a:gd name="adj" fmla="val 10000"/>
            </a:avLst>
          </a:prstGeom>
          <a:solidFill>
            <a:srgbClr val="013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2660" y="3355848"/>
            <a:ext cx="335066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Inter"/>
              </a:rPr>
              <a:t>R$ 1,10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2660" y="3886200"/>
            <a:ext cx="335066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100" b="0" i="0">
                <a:solidFill>
                  <a:srgbClr val="CFE0FF"/>
                </a:solidFill>
                <a:latin typeface="Inter"/>
              </a:rPr>
              <a:t>Venal oficial (IPTU) — piso de defesa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4709160"/>
            <a:ext cx="54864" cy="1463040"/>
          </a:xfrm>
          <a:prstGeom prst="rect">
            <a:avLst/>
          </a:prstGeom>
          <a:solidFill>
            <a:srgbClr val="DC1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4754880"/>
            <a:ext cx="1060063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Inter"/>
              </a:rPr>
              <a:t>A régua é o seu próprio prédio: </a:t>
            </a:r>
            <a:r>
              <a:rPr sz="1250" b="0" i="0">
                <a:solidFill>
                  <a:srgbClr val="CFE0FF"/>
                </a:solidFill>
                <a:latin typeface="Inter"/>
              </a:rPr>
              <a:t>a venda do vizinho de porta corrigida (~R$ 1,31 mi), o balanço honesto de pontos fortes e fracos e a concorrência real.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Inter"/>
              </a:rPr>
              <a:t>R$ 1.390.000 entra no filtro de "até R$ 1,4 mi" dos portais</a:t>
            </a:r>
            <a:r>
              <a:rPr sz="1250" b="0" i="0">
                <a:solidFill>
                  <a:srgbClr val="CFE0FF"/>
                </a:solidFill>
                <a:latin typeface="Inter"/>
              </a:rPr>
              <a:t>, fica abaixo do concorrente maior de R$ 1,49 mi e mantém reserva de negociação até o fechamento esperado. Na negociação, o valor é defendido pelo venal oficial e pela venda do AP 51.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0080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50" b="1">
                <a:solidFill>
                  <a:srgbClr val="FFFFFF"/>
                </a:solidFill>
                <a:latin typeface="Inter"/>
              </a:rPr>
              <a:t>RE/</a:t>
            </a:r>
            <a:r>
              <a:rPr sz="1050" b="1">
                <a:solidFill>
                  <a:srgbClr val="FF5A73"/>
                </a:solidFill>
                <a:latin typeface="Inter"/>
              </a:rPr>
              <a:t>MAX</a:t>
            </a:r>
            <a:r>
              <a:rPr sz="1050" b="1">
                <a:solidFill>
                  <a:srgbClr val="FFFFFF"/>
                </a:solidFill>
                <a:latin typeface="Inter"/>
              </a:rPr>
              <a:t> Galeria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11535" y="6400800"/>
            <a:ext cx="73152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100">
                <a:solidFill>
                  <a:srgbClr val="CFE0FF"/>
                </a:solidFill>
                <a:latin typeface="Inter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534186" cy="9144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34186" y="0"/>
            <a:ext cx="3657508" cy="91440"/>
          </a:xfrm>
          <a:prstGeom prst="rect">
            <a:avLst/>
          </a:prstGeom>
          <a:solidFill>
            <a:srgbClr val="DC1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50292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DC1431"/>
                </a:solidFill>
                <a:latin typeface="Inter"/>
              </a:rPr>
              <a:t>ESTRATÉGIA DE VENDA · PRÓXIMOS PASSOS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68680"/>
            <a:ext cx="110578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000" b="1" i="0">
                <a:solidFill>
                  <a:srgbClr val="012A6E"/>
                </a:solidFill>
                <a:latin typeface="Inter"/>
              </a:rPr>
              <a:t>Do contrato à venda</a:t>
            </a:r>
          </a:p>
        </p:txBody>
      </p:sp>
      <p:sp>
        <p:nvSpPr>
          <p:cNvPr id="7" name="Oval 6"/>
          <p:cNvSpPr/>
          <p:nvPr/>
        </p:nvSpPr>
        <p:spPr>
          <a:xfrm>
            <a:off x="566928" y="1965960"/>
            <a:ext cx="457200" cy="457200"/>
          </a:xfrm>
          <a:prstGeom prst="ellipse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2728" y="1984248"/>
            <a:ext cx="101434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50" b="0" i="0">
                <a:solidFill>
                  <a:srgbClr val="3A4258"/>
                </a:solidFill>
                <a:latin typeface="Inter"/>
              </a:rPr>
              <a:t>Assinatura do contrato de representação exclusiva.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2807208"/>
            <a:ext cx="457200" cy="457200"/>
          </a:xfrm>
          <a:prstGeom prst="ellipse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2728" y="2825496"/>
            <a:ext cx="101434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50" b="0" i="0">
                <a:solidFill>
                  <a:srgbClr val="3A4258"/>
                </a:solidFill>
                <a:latin typeface="Inter"/>
              </a:rPr>
              <a:t>Análise jurídica da documentação (due diligence) — carnê de IPTU do apto 52 e averbação das 2 vagas na matrícula.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" y="3648456"/>
            <a:ext cx="457200" cy="457200"/>
          </a:xfrm>
          <a:prstGeom prst="ellipse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2728" y="3666744"/>
            <a:ext cx="101434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50" b="0" i="0">
                <a:solidFill>
                  <a:srgbClr val="3A4258"/>
                </a:solidFill>
                <a:latin typeface="Inter"/>
              </a:rPr>
              <a:t>Montagem do plano de marketing e produção do material profissional (fotos, filme e tour virtual).</a:t>
            </a:r>
          </a:p>
        </p:txBody>
      </p:sp>
      <p:sp>
        <p:nvSpPr>
          <p:cNvPr id="13" name="Oval 12"/>
          <p:cNvSpPr/>
          <p:nvPr/>
        </p:nvSpPr>
        <p:spPr>
          <a:xfrm>
            <a:off x="566928" y="4489704"/>
            <a:ext cx="457200" cy="457200"/>
          </a:xfrm>
          <a:prstGeom prst="ellipse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2728" y="4507992"/>
            <a:ext cx="101434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50" b="0" i="0">
                <a:solidFill>
                  <a:srgbClr val="3A4258"/>
                </a:solidFill>
                <a:latin typeface="Inter"/>
              </a:rPr>
              <a:t>Implementação e início dos trabalhos — anúncio a R$ 1.390.000, com revisão em ciclos de 45–60 dias.</a:t>
            </a:r>
          </a:p>
        </p:txBody>
      </p:sp>
      <p:sp>
        <p:nvSpPr>
          <p:cNvPr id="15" name="Oval 14"/>
          <p:cNvSpPr/>
          <p:nvPr/>
        </p:nvSpPr>
        <p:spPr>
          <a:xfrm>
            <a:off x="566928" y="5330952"/>
            <a:ext cx="457200" cy="457200"/>
          </a:xfrm>
          <a:prstGeom prst="ellipse">
            <a:avLst/>
          </a:prstGeom>
          <a:solidFill>
            <a:srgbClr val="DC1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Inter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52728" y="5349240"/>
            <a:ext cx="101434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1" i="0">
                <a:solidFill>
                  <a:srgbClr val="DC1431"/>
                </a:solidFill>
                <a:latin typeface="Inter"/>
              </a:rPr>
              <a:t>VENDA — fechamento entre R$ 1,25 e R$ 1,35 milhão.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0080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50" b="1">
                <a:solidFill>
                  <a:srgbClr val="003DA5"/>
                </a:solidFill>
                <a:latin typeface="Inter"/>
              </a:rPr>
              <a:t>RE/</a:t>
            </a:r>
            <a:r>
              <a:rPr sz="1050" b="1">
                <a:solidFill>
                  <a:srgbClr val="DC1431"/>
                </a:solidFill>
                <a:latin typeface="Inter"/>
              </a:rPr>
              <a:t>MAX</a:t>
            </a:r>
            <a:r>
              <a:rPr sz="1050" b="1">
                <a:solidFill>
                  <a:srgbClr val="003DA5"/>
                </a:solidFill>
                <a:latin typeface="Inter"/>
              </a:rPr>
              <a:t> Galeria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11535" y="6400800"/>
            <a:ext cx="73152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100">
                <a:solidFill>
                  <a:srgbClr val="7D8AA3"/>
                </a:solidFill>
                <a:latin typeface="Inter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2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534186" cy="9144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34186" y="0"/>
            <a:ext cx="3657508" cy="91440"/>
          </a:xfrm>
          <a:prstGeom prst="rect">
            <a:avLst/>
          </a:prstGeom>
          <a:solidFill>
            <a:srgbClr val="DC1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23444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9FC0FF"/>
                </a:solidFill>
                <a:latin typeface="Inter"/>
              </a:rPr>
              <a:t>RE/MAX GALERIA · MOEMA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91640"/>
            <a:ext cx="8686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Inter"/>
              </a:rPr>
              <a:t>Obrigada, Dorothy.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697480"/>
            <a:ext cx="7680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800" b="0" i="0">
                <a:solidFill>
                  <a:srgbClr val="CFE0FF"/>
                </a:solidFill>
                <a:latin typeface="Inter"/>
              </a:rPr>
              <a:t>Se deseja vender seu imóvel com </a:t>
            </a:r>
            <a:r>
              <a:rPr sz="1800" b="1" i="0">
                <a:solidFill>
                  <a:srgbClr val="FFFFFF"/>
                </a:solidFill>
                <a:latin typeface="Inter"/>
              </a:rPr>
              <a:t>gestão profissional focada em resultados</a:t>
            </a:r>
            <a:r>
              <a:rPr sz="1800" b="0" i="0">
                <a:solidFill>
                  <a:srgbClr val="CFE0FF"/>
                </a:solidFill>
                <a:latin typeface="Inter"/>
              </a:rPr>
              <a:t>, fale comigo.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3657600"/>
            <a:ext cx="54864" cy="1051560"/>
          </a:xfrm>
          <a:prstGeom prst="rect">
            <a:avLst/>
          </a:prstGeom>
          <a:solidFill>
            <a:srgbClr val="DC1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3703320"/>
            <a:ext cx="7863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50" b="0" i="1">
                <a:solidFill>
                  <a:srgbClr val="CFE0FF"/>
                </a:solidFill>
                <a:latin typeface="Inter"/>
              </a:rPr>
              <a:t>RE/MAX Galeria — conectando pessoas aos melhores negócios imobiliários por um modelo de gestão eficiente, transparente e orientado por resultados.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4663440"/>
            <a:ext cx="45720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Inter"/>
              </a:rPr>
              <a:t>Luciana Borba</a:t>
            </a:r>
          </a:p>
          <a:p>
            <a:pPr algn="r">
              <a:lnSpc>
                <a:spcPct val="130000"/>
              </a:lnSpc>
              <a:spcAft>
                <a:spcPts val="200"/>
              </a:spcAft>
            </a:pPr>
            <a:r>
              <a:rPr sz="1250" b="0" i="0">
                <a:solidFill>
                  <a:srgbClr val="CFE0FF"/>
                </a:solidFill>
                <a:latin typeface="Inter"/>
              </a:rPr>
              <a:t>Consultora Imobiliária · RE/MAX Galeria · (11) 99995-2014</a:t>
            </a:r>
          </a:p>
          <a:p>
            <a:pPr algn="r">
              <a:lnSpc>
                <a:spcPct val="130000"/>
              </a:lnSpc>
              <a:spcAft>
                <a:spcPts val="200"/>
              </a:spcAft>
            </a:pPr>
            <a:r>
              <a:rPr sz="1250" b="0" i="0">
                <a:solidFill>
                  <a:srgbClr val="CFE0FF"/>
                </a:solidFill>
                <a:latin typeface="Inter"/>
              </a:rPr>
              <a:t>lucianaborba@remax.com.br</a:t>
            </a:r>
          </a:p>
          <a:p>
            <a:pPr algn="r">
              <a:lnSpc>
                <a:spcPct val="130000"/>
              </a:lnSpc>
              <a:spcAft>
                <a:spcPts val="200"/>
              </a:spcAft>
            </a:pPr>
            <a:r>
              <a:rPr sz="1250" b="0" i="0">
                <a:solidFill>
                  <a:srgbClr val="9FC0FF"/>
                </a:solidFill>
                <a:latin typeface="Inter"/>
              </a:rPr>
              <a:t>CRECI: 045063-J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394960"/>
            <a:ext cx="3657600" cy="6400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Inter"/>
              </a:rPr>
              <a:t>RE/</a:t>
            </a:r>
            <a:r>
              <a:rPr sz="2600" b="1">
                <a:solidFill>
                  <a:srgbClr val="FF5A73"/>
                </a:solidFill>
                <a:latin typeface="Inter"/>
              </a:rPr>
              <a:t>MAX</a:t>
            </a:r>
          </a:p>
          <a:p>
            <a:r>
              <a:rPr sz="1100" b="1">
                <a:solidFill>
                  <a:srgbClr val="9FC0FF"/>
                </a:solidFill>
                <a:latin typeface="Inter"/>
              </a:rPr>
              <a:t>GALERIA · MOEMA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