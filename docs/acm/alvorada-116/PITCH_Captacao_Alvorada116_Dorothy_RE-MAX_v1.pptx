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9FC0FF"/>
                </a:solidFill>
                <a:latin typeface="Inter"/>
              </a:rPr>
              <a:t>RE/MAX GALERIA · PROPOSTA DE REPRESENTAÇÃO EXCLUSIVA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Inter"/>
              </a:rPr>
              <a:t>Saudações, Dorothy e família. Vamos vender o seu imóvel pelo melhor valor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8620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CFE0FF"/>
                </a:solidFill>
                <a:latin typeface="Inter"/>
              </a:rPr>
              <a:t>RE/MAX, Real Estate Maximum: o máximo de serviço ao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548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Apto 52 · Ed. Manuela — Rua Alvorada, 116 · Vila Olímpia, São Paulo · Agosto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11480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Luciana Borba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Consultora Imobiliária · RE/MAX Galeria · (11) 99995-2014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9FC0FF"/>
                </a:solidFill>
                <a:latin typeface="Inter"/>
              </a:rPr>
              <a:t>CRECI: 045063-J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9FC0FF"/>
                </a:solidFill>
                <a:latin typeface="Inter"/>
              </a:rPr>
              <a:t> 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Rodrigo Lima · (11) 96371-0014 · CRECI: 242.934</a:t>
            </a:r>
          </a:p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Alameda dos Jurupis, 452 · Conj. 153 B · Moema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669280"/>
            <a:ext cx="36576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Inter"/>
              </a:rPr>
              <a:t>RE/</a:t>
            </a:r>
            <a:r>
              <a:rPr sz="2600" b="1">
                <a:solidFill>
                  <a:srgbClr val="FF5A73"/>
                </a:solidFill>
                <a:latin typeface="Inter"/>
              </a:rPr>
              <a:t>MAX</a:t>
            </a:r>
          </a:p>
          <a:p>
            <a:r>
              <a:rPr sz="1100" b="1">
                <a:solidFill>
                  <a:srgbClr val="9FC0FF"/>
                </a:solidFill>
                <a:latin typeface="Inter"/>
              </a:rPr>
              <a:t>GALERIA · MOEMA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QUEM CONFIA A VENDA À RE/MAX ESTÁ COM A MAIOR REDE DO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012A6E"/>
                </a:solidFill>
                <a:latin typeface="Inter"/>
              </a:rPr>
              <a:t>A força que vai trabalhar pelo seu imóvel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 i="0">
                <a:solidFill>
                  <a:srgbClr val="3A4258"/>
                </a:solidFill>
                <a:latin typeface="Inter"/>
              </a:rPr>
              <a:t>Fundada em 1973, a RE/MAX é a </a:t>
            </a:r>
            <a:r>
              <a:rPr sz="1600" b="1" i="0">
                <a:solidFill>
                  <a:srgbClr val="1A2233"/>
                </a:solidFill>
                <a:latin typeface="Inter"/>
              </a:rPr>
              <a:t>maior rede imobiliária do mundo em volume de vendas</a:t>
            </a:r>
            <a:r>
              <a:rPr sz="1600" b="0" i="0">
                <a:solidFill>
                  <a:srgbClr val="3A4258"/>
                </a:solidFill>
                <a:latin typeface="Inter"/>
              </a:rPr>
              <a:t> — e também a número 1 no Brasil.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42032"/>
            <a:ext cx="11057839" cy="841248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542032"/>
            <a:ext cx="64008" cy="841248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106006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1">
                <a:solidFill>
                  <a:srgbClr val="012A6E"/>
                </a:solidFill>
                <a:latin typeface="Inter"/>
              </a:rPr>
              <a:t>Faz parte do DNA da RE/MAX</a:t>
            </a:r>
            <a:r>
              <a:rPr sz="1350" b="0" i="1">
                <a:solidFill>
                  <a:srgbClr val="3A4258"/>
                </a:solidFill>
                <a:latin typeface="Inter"/>
              </a:rPr>
              <a:t> proporcionar ao cliente uma experiência com 100% de ética, comprometimento, excelência e resultado — revolucionando o mercado com método eficaz e inovador.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57600"/>
            <a:ext cx="3503066" cy="19202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58768"/>
            <a:ext cx="299100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115</a:t>
            </a:r>
            <a:r>
              <a:rPr sz="1700" b="1">
                <a:solidFill>
                  <a:srgbClr val="7D8AA3"/>
                </a:solidFill>
                <a:latin typeface="Inter"/>
              </a:rPr>
              <a:t>+ países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144 mil+ corretores conectados pelo mesmo sistema, há mais de 50 anos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3657600"/>
            <a:ext cx="3503066" cy="19202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0346" y="3858768"/>
            <a:ext cx="299100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600</a:t>
            </a:r>
            <a:r>
              <a:rPr sz="1700" b="1">
                <a:solidFill>
                  <a:srgbClr val="7D8AA3"/>
                </a:solidFill>
                <a:latin typeface="Inter"/>
              </a:rPr>
              <a:t>+ lojas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No Brasil, em mais de 250 cidades, com 11 mil+ profissionais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3657600"/>
            <a:ext cx="3503066" cy="192024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7732" y="3858768"/>
            <a:ext cx="299100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R$ 14,3</a:t>
            </a:r>
            <a:r>
              <a:rPr sz="1700" b="1">
                <a:solidFill>
                  <a:srgbClr val="CFE0FF"/>
                </a:solidFill>
                <a:latin typeface="Inter"/>
              </a:rPr>
              <a:t>bi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CFE0FF"/>
                </a:solidFill>
                <a:latin typeface="Inter"/>
              </a:rPr>
              <a:t>Em VGV no Brasil em 2025 — número 1 em vendas no país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CAPACIDADE DE VENDA · REDE + 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012A6E"/>
                </a:solidFill>
                <a:latin typeface="Inter"/>
              </a:rPr>
              <a:t>Vendemos em menos da metade do tempo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4980279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4980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A4258"/>
                </a:solidFill>
                <a:latin typeface="Inter"/>
              </a:rPr>
              <a:t>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00400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3A4258"/>
                </a:solidFill>
                <a:latin typeface="Inter"/>
              </a:rPr>
              <a:t>dias — prazo médio do mercado tradicional (OLX/Zap)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24688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DC1431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4487" y="1965960"/>
            <a:ext cx="4980279" cy="182880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2286000"/>
            <a:ext cx="4980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Inter"/>
              </a:rPr>
              <a:t>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8807" y="3200400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Inter"/>
              </a:rPr>
              <a:t>dias — prazo médio de vendas da RE/MAX no Brasil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908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3434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Inter"/>
              </a:rPr>
              <a:t>7</a:t>
            </a:r>
            <a:r>
              <a:rPr sz="4600" b="1" i="0">
                <a:solidFill>
                  <a:srgbClr val="CFE0FF"/>
                </a:solidFill>
                <a:latin typeface="Inter"/>
              </a:rPr>
              <a:t> de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2120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imóveis vendidos pela RE/MAX têm o comprador originado por outra imobiliária ou corretor parceiro.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251960"/>
            <a:ext cx="7308799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3A4258"/>
                </a:solidFill>
                <a:latin typeface="Inter"/>
              </a:rPr>
              <a:t>Seu imóvel fica disponível para </a:t>
            </a:r>
            <a:r>
              <a:rPr sz="1700" b="1" i="0">
                <a:solidFill>
                  <a:srgbClr val="1A2233"/>
                </a:solidFill>
                <a:latin typeface="Inter"/>
              </a:rPr>
              <a:t>milhares de corretores</a:t>
            </a:r>
            <a:r>
              <a:rPr sz="1700" b="0" i="0">
                <a:solidFill>
                  <a:srgbClr val="3A4258"/>
                </a:solidFill>
                <a:latin typeface="Inter"/>
              </a:rPr>
              <a:t> — mas com </a:t>
            </a:r>
            <a:r>
              <a:rPr sz="1700" b="1" i="0">
                <a:solidFill>
                  <a:srgbClr val="1A2233"/>
                </a:solidFill>
                <a:latin typeface="Inter"/>
              </a:rPr>
              <a:t>uma só interlocutora</a:t>
            </a:r>
            <a:r>
              <a:rPr sz="1700" b="0" i="0">
                <a:solidFill>
                  <a:srgbClr val="3A4258"/>
                </a:solidFill>
                <a:latin typeface="Inter"/>
              </a:rPr>
              <a:t>: a Luciana.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3A4258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3A4258"/>
                </a:solidFill>
                <a:latin typeface="Inter"/>
              </a:rPr>
              <a:t>A rede amplia o alcance; a exclusividade garante a consistência. </a:t>
            </a:r>
            <a:r>
              <a:rPr sz="1700" b="1" i="0">
                <a:solidFill>
                  <a:srgbClr val="003DA5"/>
                </a:solidFill>
                <a:latin typeface="Inter"/>
              </a:rPr>
              <a:t>Mais alcance, mesma mensagem.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PLANO DE COMERCIALIZAÇÃO · COMO A RE/MAX VENDE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012A6E"/>
                </a:solidFill>
                <a:latin typeface="Inter"/>
              </a:rPr>
              <a:t>Uma venda boa e rápida nasce de estratégia, planejamento e execução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3A4258"/>
                </a:solidFill>
                <a:latin typeface="Inter"/>
              </a:rPr>
              <a:t>Na RE/MAX, cada imóvel recebe um </a:t>
            </a:r>
            <a:r>
              <a:rPr sz="1600" b="1" i="0">
                <a:solidFill>
                  <a:srgbClr val="1A2233"/>
                </a:solidFill>
                <a:latin typeface="Inter"/>
              </a:rPr>
              <a:t>plano de comercialização estruturado</a:t>
            </a:r>
            <a:r>
              <a:rPr sz="1600" b="0" i="0">
                <a:solidFill>
                  <a:srgbClr val="3A4258"/>
                </a:solidFill>
                <a:latin typeface="Inter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23160"/>
            <a:ext cx="5300319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Uma só corretora como interlocutora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Precificação baseada em análise de mercado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Produção de fotos e materiais de alta qualidade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Divulgação direcionada nos principais canais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Compartilhamento com ampla rede de corretores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423160"/>
            <a:ext cx="5300319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Qualificação de compradores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Acompanhamento das visitas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Gestão das propostas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Condução da negociação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9D57"/>
                </a:solidFill>
                <a:latin typeface="Inter"/>
              </a:rPr>
              <a:t>✔  </a:t>
            </a:r>
            <a:r>
              <a:rPr sz="1400">
                <a:solidFill>
                  <a:srgbClr val="3A4258"/>
                </a:solidFill>
                <a:latin typeface="Inter"/>
              </a:rPr>
              <a:t>Relatórios periódicos de desempenho e feedback (a combinar)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212080"/>
            <a:ext cx="11057839" cy="7772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285232"/>
            <a:ext cx="105091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O resultado: </a:t>
            </a:r>
            <a:r>
              <a:rPr sz="1600" b="0" i="0">
                <a:solidFill>
                  <a:srgbClr val="CFE0FF"/>
                </a:solidFill>
                <a:latin typeface="Inter"/>
              </a:rPr>
              <a:t>mais visibilidade, mais visitas qualificadas e negociações mais assertivas.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0" b="1" i="0">
                <a:solidFill>
                  <a:srgbClr val="2A4D9E"/>
                </a:solidFill>
                <a:latin typeface="Inter"/>
              </a:rPr>
              <a:t>ACM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Inter"/>
              </a:rPr>
              <a:t>O seu imóvel e o valor que o mercado realmente paga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0" i="0">
                <a:solidFill>
                  <a:srgbClr val="CFE0FF"/>
                </a:solidFill>
                <a:latin typeface="Inter"/>
              </a:rPr>
              <a:t>A Análise Comparativa de Mercado — o método mais eficiente no mundo e no Brasil — apoiada em vendas registradas, não em achismo.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Inter"/>
              </a:rPr>
              <a:t>RE/</a:t>
            </a:r>
            <a:r>
              <a:rPr sz="1050" b="1">
                <a:solidFill>
                  <a:srgbClr val="FF5A73"/>
                </a:solidFill>
                <a:latin typeface="Inter"/>
              </a:rPr>
              <a:t>MAX</a:t>
            </a:r>
            <a:r>
              <a:rPr sz="1050" b="1">
                <a:solidFill>
                  <a:srgbClr val="FFFFFF"/>
                </a:solidFill>
                <a:latin typeface="Inter"/>
              </a:rPr>
              <a:t> Galeria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CFE0FF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SOBRE O SEU IMÓVEL · CARACTERÍSTICAS CONFIRMADAS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012A6E"/>
                </a:solidFill>
                <a:latin typeface="Inter"/>
              </a:rPr>
              <a:t>3 dormitórios com 2 vagas num prédio boutique de só 20 unidades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No coração da Vila Olímpia, o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Ed. Manuela (1994)</a:t>
            </a:r>
            <a:r>
              <a:rPr sz="1450" b="0" i="0">
                <a:solidFill>
                  <a:srgbClr val="3A4258"/>
                </a:solidFill>
                <a:latin typeface="Inter"/>
              </a:rPr>
              <a:t> tem apenas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2 apartamentos por andar</a:t>
            </a:r>
            <a:r>
              <a:rPr sz="1450" b="0" i="0">
                <a:solidFill>
                  <a:srgbClr val="3A4258"/>
                </a:solidFill>
                <a:latin typeface="Inter"/>
              </a:rPr>
              <a:t>. O apto 52 fica no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5º de 10 andares</a:t>
            </a:r>
            <a:r>
              <a:rPr sz="1450" b="0" i="0">
                <a:solidFill>
                  <a:srgbClr val="3A4258"/>
                </a:solidFill>
                <a:latin typeface="Inter"/>
              </a:rPr>
              <a:t>, de frente para a rua, </a:t>
            </a:r>
            <a:r>
              <a:rPr sz="1450" b="1" i="0">
                <a:solidFill>
                  <a:srgbClr val="1A2233"/>
                </a:solidFill>
                <a:latin typeface="Inter"/>
              </a:rPr>
              <a:t>pronto para morar</a:t>
            </a:r>
            <a:r>
              <a:rPr sz="1450" b="0" i="0">
                <a:solidFill>
                  <a:srgbClr val="3A4258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6583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DC1431"/>
                </a:solidFill>
                <a:latin typeface="Inter"/>
              </a:rPr>
              <a:t>▪  </a:t>
            </a:r>
            <a:r>
              <a:rPr sz="1400" b="1">
                <a:solidFill>
                  <a:srgbClr val="1A2233"/>
                </a:solidFill>
                <a:latin typeface="Inter"/>
              </a:rPr>
              <a:t>3 dormitórios (1 suíte)</a:t>
            </a:r>
            <a:r>
              <a:rPr sz="1400" b="0">
                <a:solidFill>
                  <a:srgbClr val="3A4258"/>
                </a:solidFill>
                <a:latin typeface="Inter"/>
              </a:rPr>
              <a:t> + lavabo + varanda + dependência completa.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DC1431"/>
                </a:solidFill>
                <a:latin typeface="Inter"/>
              </a:rPr>
              <a:t>▪  </a:t>
            </a:r>
            <a:r>
              <a:rPr sz="1400" b="1">
                <a:solidFill>
                  <a:srgbClr val="1A2233"/>
                </a:solidFill>
                <a:latin typeface="Inter"/>
              </a:rPr>
              <a:t>Conservação boa:</a:t>
            </a:r>
            <a:r>
              <a:rPr sz="1400" b="0">
                <a:solidFill>
                  <a:srgbClr val="3A4258"/>
                </a:solidFill>
                <a:latin typeface="Inter"/>
              </a:rPr>
              <a:t> pintado, piso de madeira restaurado, ventilação cruzada.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DC1431"/>
                </a:solidFill>
                <a:latin typeface="Inter"/>
              </a:rPr>
              <a:t>▪  </a:t>
            </a:r>
            <a:r>
              <a:rPr sz="1400" b="1">
                <a:solidFill>
                  <a:srgbClr val="1A2233"/>
                </a:solidFill>
                <a:latin typeface="Inter"/>
              </a:rPr>
              <a:t>Lazer completo</a:t>
            </a:r>
            <a:r>
              <a:rPr sz="1400" b="0">
                <a:solidFill>
                  <a:srgbClr val="3A4258"/>
                </a:solidFill>
                <a:latin typeface="Inter"/>
              </a:rPr>
              <a:t> — academia, sauna e salão de festas — rateado entre poucas famílias.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2040"/>
            <a:ext cx="6583680" cy="105156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892040"/>
            <a:ext cx="54864" cy="105156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038344"/>
            <a:ext cx="6217920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A2233"/>
                </a:solidFill>
                <a:latin typeface="Inter"/>
              </a:rPr>
              <a:t>Due diligence antes do anúncio: </a:t>
            </a:r>
            <a:r>
              <a:rPr sz="1150" b="0" i="0">
                <a:solidFill>
                  <a:srgbClr val="3A4258"/>
                </a:solidFill>
                <a:latin typeface="Inter"/>
              </a:rPr>
              <a:t>confirmar o carnê de IPTU do próprio apto 52 (a área oficial veio do apto 71, mesmo prédio) e a averbação das 2 vagas na matrícula.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1949043" cy="1874519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1" y="2029968"/>
            <a:ext cx="143697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113</a:t>
            </a:r>
            <a:r>
              <a:rPr sz="1700" b="1">
                <a:solidFill>
                  <a:srgbClr val="CFE0FF"/>
                </a:solidFill>
                <a:latin typeface="Inter"/>
              </a:rPr>
              <a:t> m²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CFE0FF"/>
                </a:solidFill>
                <a:latin typeface="Inter"/>
              </a:rPr>
              <a:t>Área útil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75723" y="1828800"/>
            <a:ext cx="1949043" cy="1874519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31755" y="2029968"/>
            <a:ext cx="143697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213</a:t>
            </a:r>
            <a:r>
              <a:rPr sz="1700" b="1">
                <a:solidFill>
                  <a:srgbClr val="7D8AA3"/>
                </a:solidFill>
                <a:latin typeface="Inter"/>
              </a:rPr>
              <a:t> m²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Área cadastral (IPTU)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886200"/>
            <a:ext cx="1949043" cy="1874519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1" y="4087368"/>
            <a:ext cx="143697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2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Vagas privativas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5723" y="3886200"/>
            <a:ext cx="1949043" cy="1874519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1755" y="4087368"/>
            <a:ext cx="143697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20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Unidades no prédio (2 por andar)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ANTES DOS NÚMEROS · A DISTINÇÃO MAIS IMPORTANTE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 i="0">
                <a:solidFill>
                  <a:srgbClr val="012A6E"/>
                </a:solidFill>
                <a:latin typeface="Inter"/>
              </a:rPr>
              <a:t>Duas réguas de área — uma para calcular, outra para vender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5300319" cy="2286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48840"/>
            <a:ext cx="4751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03DA5"/>
                </a:solidFill>
                <a:latin typeface="Inter"/>
              </a:rPr>
              <a:t>213 m² </a:t>
            </a:r>
            <a:r>
              <a:rPr sz="2600" b="1" i="0">
                <a:solidFill>
                  <a:srgbClr val="7D8AA3"/>
                </a:solidFill>
                <a:latin typeface="Inter"/>
              </a:rPr>
              <a:t>cadastrais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88920"/>
            <a:ext cx="47516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A2233"/>
                </a:solidFill>
                <a:latin typeface="Inter"/>
              </a:rPr>
              <a:t>A régua de CÁLCULO. </a:t>
            </a:r>
            <a:r>
              <a:rPr sz="1250" b="0" i="0">
                <a:solidFill>
                  <a:srgbClr val="3A4258"/>
                </a:solidFill>
                <a:latin typeface="Inter"/>
              </a:rPr>
              <a:t>É a área do IPTU, do ITBI e da matrícula — inclui a privativa, a parte proporcional das áreas comuns e as 2 vagas. É com ela que comparamos venda com venda.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920240"/>
            <a:ext cx="5300319" cy="228600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148840"/>
            <a:ext cx="4751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Inter"/>
              </a:rPr>
              <a:t>113 m² </a:t>
            </a:r>
            <a:r>
              <a:rPr sz="2600" b="1" i="0">
                <a:solidFill>
                  <a:srgbClr val="CFE0FF"/>
                </a:solidFill>
                <a:latin typeface="Inter"/>
              </a:rPr>
              <a:t>úteis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788920"/>
            <a:ext cx="47516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A régua de VENDA. </a:t>
            </a:r>
            <a:r>
              <a:rPr sz="1250" b="0" i="0">
                <a:solidFill>
                  <a:srgbClr val="CFE0FF"/>
                </a:solidFill>
                <a:latin typeface="Inter"/>
              </a:rPr>
              <a:t>É o piso interno do apartamento — a área do anúncio, dos portais e da conversa com o comprador. É com ela que nos posicionamos contra a concorrência.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34840"/>
            <a:ext cx="11057839" cy="9144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434840"/>
            <a:ext cx="54864" cy="9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581144"/>
            <a:ext cx="106920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A2233"/>
                </a:solidFill>
                <a:latin typeface="Inter"/>
              </a:rPr>
              <a:t>O fator do prédio é 1,88</a:t>
            </a:r>
            <a:r>
              <a:rPr sz="1200" b="0" i="0">
                <a:solidFill>
                  <a:srgbClr val="3A4258"/>
                </a:solidFill>
                <a:latin typeface="Inter"/>
              </a:rPr>
              <a:t> (213 ÷ 113) — alto e favorável: muita área comum e garagem por unidade, coerente com lazer completo rateado entre só 20 apartamentos. Na visita, antecipamos que "213 m²" da matrícula é a área total — evita ruído e transmite domínio.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7D8AA3"/>
                </a:solidFill>
                <a:latin typeface="Inter"/>
              </a:rPr>
              <a:t>Misturar as duas réguas é erro de unidade — foi o que derrubou uma avaliação anterior deste imóvel em 47%. O nosso cálculo é cadastral contra cadastral: a única comparação tecnicamente válida.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METODOLOGIA · EVIDÊNCIA RASTREÁVEL, NÃO OPINIÃO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012A6E"/>
                </a:solidFill>
                <a:latin typeface="Inter"/>
              </a:rPr>
              <a:t>Como chegamos ao valor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3503066" cy="19659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299100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631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Apartamentos vendidos (ITBI/PMSP) num raio de 1.000 m, filtrados de 4.986 transações reais 2024–2026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1920240"/>
            <a:ext cx="3503066" cy="19659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346" y="2121408"/>
            <a:ext cx="299100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003DA5"/>
                </a:solidFill>
                <a:latin typeface="Inter"/>
              </a:rPr>
              <a:t>53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3A4258"/>
                </a:solidFill>
                <a:latin typeface="Inter"/>
              </a:rPr>
              <a:t>Vendas do perfil exato do alvo — área cadastral 190–240 m² e prédios de 1985–2005 (o Manuela é de 1994)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1700" y="1920240"/>
            <a:ext cx="3503066" cy="196596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7732" y="2121408"/>
            <a:ext cx="2991002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IPTU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50">
                <a:solidFill>
                  <a:srgbClr val="CFE0FF"/>
                </a:solidFill>
                <a:latin typeface="Inter"/>
              </a:rPr>
              <a:t>Carnê do próprio edifício ancora a área oficial (213 m²) e o piso de valor (venal R$ 1,10 mi)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6052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 i="0">
                <a:solidFill>
                  <a:srgbClr val="3A4258"/>
                </a:solidFill>
                <a:latin typeface="Inter"/>
              </a:rPr>
              <a:t>Cada comparável é uma </a:t>
            </a:r>
            <a:r>
              <a:rPr sz="1500" b="1" i="0">
                <a:solidFill>
                  <a:srgbClr val="1A2233"/>
                </a:solidFill>
                <a:latin typeface="Inter"/>
              </a:rPr>
              <a:t>transação registrada em cartório</a:t>
            </a:r>
            <a:r>
              <a:rPr sz="1500" b="0" i="0">
                <a:solidFill>
                  <a:srgbClr val="3A4258"/>
                </a:solidFill>
                <a:latin typeface="Inter"/>
              </a:rPr>
              <a:t>, rastreável pelo cadastro municipal (SQL). Preço de anúncio entra só como leitura de concorrência — </a:t>
            </a:r>
            <a:r>
              <a:rPr sz="1500" b="1" i="0">
                <a:solidFill>
                  <a:srgbClr val="1A2233"/>
                </a:solidFill>
                <a:latin typeface="Inter"/>
              </a:rPr>
              <a:t>nunca como verdade de valor</a:t>
            </a:r>
            <a:r>
              <a:rPr sz="1500" b="0" i="0">
                <a:solidFill>
                  <a:srgbClr val="3A4258"/>
                </a:solidFill>
                <a:latin typeface="Inter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1057839" cy="10058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029200"/>
            <a:ext cx="54864" cy="10058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175504"/>
            <a:ext cx="10692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A2233"/>
                </a:solidFill>
                <a:latin typeface="Inter"/>
              </a:rPr>
              <a:t>A idade do prédio é o fator que mais separa preço: </a:t>
            </a:r>
            <a:r>
              <a:rPr sz="1200" b="0" i="0">
                <a:solidFill>
                  <a:srgbClr val="3A4258"/>
                </a:solidFill>
                <a:latin typeface="Inter"/>
              </a:rPr>
              <a:t>no mesmo recorte de área, imóveis de todas as épocas têm mediana de R$ 1,95 mi — mas o estoque de 1985–2005 fica em R$ 1,31 mi. Comparar o Ed. Manuela com prédio novo inflaria o valor e travaria a venda.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GEOGRAFIA · RAIO DE 1.000 M A PARTIR DO IMÓVEL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 i="0">
                <a:solidFill>
                  <a:srgbClr val="012A6E"/>
                </a:solidFill>
                <a:latin typeface="Inter"/>
              </a:rPr>
              <a:t>Os comparáveis no entorno imediato</a:t>
            </a:r>
          </a:p>
        </p:txBody>
      </p:sp>
      <p:pic>
        <p:nvPicPr>
          <p:cNvPr id="7" name="Picture 6" descr="ACM_alvorada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54842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205740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E2231A"/>
                </a:solidFill>
                <a:latin typeface="Inter"/>
              </a:rPr>
              <a:t>Vermelho: </a:t>
            </a:r>
            <a:r>
              <a:rPr sz="1300" b="0">
                <a:solidFill>
                  <a:srgbClr val="3A4258"/>
                </a:solidFill>
                <a:latin typeface="Inter"/>
              </a:rPr>
              <a:t>o imóvel-alvo (Rua Alvorada, 116 — apto 52).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1F9D57"/>
                </a:solidFill>
                <a:latin typeface="Inter"/>
              </a:rPr>
              <a:t>Verde: </a:t>
            </a:r>
            <a:r>
              <a:rPr sz="1300" b="0">
                <a:solidFill>
                  <a:srgbClr val="3A4258"/>
                </a:solidFill>
                <a:latin typeface="Inter"/>
              </a:rPr>
              <a:t>o comparável interno — AP 51, no próprio Ed. Manuela.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E8A317"/>
                </a:solidFill>
                <a:latin typeface="Inter"/>
              </a:rPr>
              <a:t>Dourado (1–3): </a:t>
            </a:r>
            <a:r>
              <a:rPr sz="1300" b="0">
                <a:solidFill>
                  <a:srgbClr val="3A4258"/>
                </a:solidFill>
                <a:latin typeface="Inter"/>
              </a:rPr>
              <a:t>os 3 comparáveis de máxima aderência.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C8651F"/>
                </a:solidFill>
                <a:latin typeface="Inter"/>
              </a:rPr>
              <a:t>Laranja (4–5): </a:t>
            </a:r>
            <a:r>
              <a:rPr sz="1300" b="0">
                <a:solidFill>
                  <a:srgbClr val="3A4258"/>
                </a:solidFill>
                <a:latin typeface="Inter"/>
              </a:rPr>
              <a:t>reforço da amostra.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1431"/>
                </a:solidFill>
                <a:latin typeface="Inter"/>
              </a:rPr>
              <a:t>▪  </a:t>
            </a:r>
            <a:r>
              <a:rPr sz="1300" b="1">
                <a:solidFill>
                  <a:srgbClr val="1E5AA8"/>
                </a:solidFill>
                <a:latin typeface="Inter"/>
              </a:rPr>
              <a:t>Azul: </a:t>
            </a:r>
            <a:r>
              <a:rPr sz="1300" b="0">
                <a:solidFill>
                  <a:srgbClr val="3A4258"/>
                </a:solidFill>
                <a:latin typeface="Inter"/>
              </a:rPr>
              <a:t>demais vendas do Top 20 no raio.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4892040"/>
            <a:ext cx="4937760" cy="105156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4892040"/>
            <a:ext cx="54864" cy="105156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5038344"/>
            <a:ext cx="4572000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3A4258"/>
                </a:solidFill>
                <a:latin typeface="Inter"/>
              </a:rPr>
              <a:t>Microrregião de valorização homogênea na Vila Olímpia — 62 vendas reais do recorte, com o comparável de ouro dentro do próprio prédio.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A CONSTRUÇÃO DO NÚMERO · TRÊS EVIDÊNCIAS INDEPENDENTES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012A6E"/>
                </a:solidFill>
                <a:latin typeface="Inter"/>
              </a:rPr>
              <a:t>Três evidências convergem para a mesma faixa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503066" cy="3017520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5740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1 · O vizinho de andar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06039"/>
            <a:ext cx="304586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CFE0FF"/>
                </a:solidFill>
                <a:latin typeface="Inter"/>
              </a:rPr>
              <a:t>O apto 51 — mesmo prédio, mesmo andar, mesma área — vendido por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R$ 1.325.000</a:t>
            </a:r>
            <a:r>
              <a:rPr sz="1200" b="0" i="0">
                <a:solidFill>
                  <a:srgbClr val="CFE0FF"/>
                </a:solidFill>
                <a:latin typeface="Inter"/>
              </a:rPr>
              <a:t> (set/2023). Corrigido pelo micro-mercado: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R$ 1,31–1,51 mi</a:t>
            </a:r>
            <a:r>
              <a:rPr sz="1200" b="0" i="0">
                <a:solidFill>
                  <a:srgbClr val="CFE0FF"/>
                </a:solidFill>
                <a:latin typeface="Inter"/>
              </a:rPr>
              <a:t> hoje. Não existe comparável melhor em uma ACM.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4314" y="1874519"/>
            <a:ext cx="3503066" cy="30175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914" y="205740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03DA5"/>
                </a:solidFill>
                <a:latin typeface="Inter"/>
              </a:rPr>
              <a:t>2 · O prédio gêmeo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914" y="2606039"/>
            <a:ext cx="304586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A4258"/>
                </a:solidFill>
                <a:latin typeface="Inter"/>
              </a:rPr>
              <a:t>Vahia de Abreu, 383 — também de 1994, a 390 m — teve </a:t>
            </a:r>
            <a:r>
              <a:rPr sz="1200" b="1" i="0">
                <a:solidFill>
                  <a:srgbClr val="1A2233"/>
                </a:solidFill>
                <a:latin typeface="Inter"/>
              </a:rPr>
              <a:t>10 vendas</a:t>
            </a:r>
            <a:r>
              <a:rPr sz="1200" b="0" i="0">
                <a:solidFill>
                  <a:srgbClr val="3A4258"/>
                </a:solidFill>
                <a:latin typeface="Inter"/>
              </a:rPr>
              <a:t> em 2024–26, entre </a:t>
            </a:r>
            <a:r>
              <a:rPr sz="1200" b="1" i="0">
                <a:solidFill>
                  <a:srgbClr val="1A2233"/>
                </a:solidFill>
                <a:latin typeface="Inter"/>
              </a:rPr>
              <a:t>R$ 1,00 e 1,24 mi</a:t>
            </a:r>
            <a:r>
              <a:rPr sz="1200" b="0" i="0">
                <a:solidFill>
                  <a:srgbClr val="3A4258"/>
                </a:solidFill>
                <a:latin typeface="Inter"/>
              </a:rPr>
              <a:t>. O Manuela vale mais: é boutique, com 2 vagas e lazer.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1700" y="1874519"/>
            <a:ext cx="3503066" cy="30175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0300" y="2057400"/>
            <a:ext cx="30458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03DA5"/>
                </a:solidFill>
                <a:latin typeface="Inter"/>
              </a:rPr>
              <a:t>3 · O mercado da região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300" y="2606039"/>
            <a:ext cx="304586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1A2233"/>
                </a:solidFill>
                <a:latin typeface="Inter"/>
              </a:rPr>
              <a:t>53 vendas reais</a:t>
            </a:r>
            <a:r>
              <a:rPr sz="1200" b="0" i="0">
                <a:solidFill>
                  <a:srgbClr val="3A4258"/>
                </a:solidFill>
                <a:latin typeface="Inter"/>
              </a:rPr>
              <a:t> do mesmo porte e da mesma safra no raio de 1.000 m — mediana de </a:t>
            </a:r>
            <a:r>
              <a:rPr sz="1200" b="1" i="0">
                <a:solidFill>
                  <a:srgbClr val="1A2233"/>
                </a:solidFill>
                <a:latin typeface="Inter"/>
              </a:rPr>
              <a:t>R$ 1.312.500</a:t>
            </a:r>
            <a:r>
              <a:rPr sz="1200" b="0" i="0">
                <a:solidFill>
                  <a:srgbClr val="3A4258"/>
                </a:solidFill>
                <a:latin typeface="Inter"/>
              </a:rPr>
              <a:t>, coincidindo com o piso da evidência nº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66360"/>
            <a:ext cx="11057839" cy="7772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5239512"/>
            <a:ext cx="105091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Convergência: </a:t>
            </a:r>
            <a:r>
              <a:rPr sz="1350" b="0" i="0">
                <a:solidFill>
                  <a:srgbClr val="CFE0FF"/>
                </a:solidFill>
                <a:latin typeface="Inter"/>
              </a:rPr>
              <a:t>o comparável interno corrigido (R$ 1,31–1,51 mi) e a mediana da mesma época (R$ 1,31 mi) apontam para a mesma região de valor — alta confiança na faixa.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O COMPARÁVEL DE OURO · VENDAS NO PRÓPRIO ED. MANUELA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 i="0">
                <a:solidFill>
                  <a:srgbClr val="012A6E"/>
                </a:solidFill>
                <a:latin typeface="Inter"/>
              </a:rPr>
              <a:t>A régua é uma venda no seu prédio, no seu andar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74519"/>
          <a:ext cx="1106424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097280"/>
                <a:gridCol w="1188720"/>
                <a:gridCol w="1737360"/>
                <a:gridCol w="237744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Unidade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Área cad.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Valor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Natureza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Uso na ACM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AP 51 — 5º andar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set/2023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213 m²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R$ 1.325.000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Compra e venda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COMPARÁVEL DE OURO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AP 61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set/2024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213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R$ 800.000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Compra e venda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outlier — abaixo do venal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AP 102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mar/2024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316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R$ 1.153.774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Arrematação em leilão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excluído (não é mercado)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AP 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dez/2024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213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R$ 200.000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Integralização de capital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excluído (não é venda)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20624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3A4258"/>
                </a:solidFill>
                <a:latin typeface="Inter"/>
              </a:rPr>
              <a:t>O AP 51 é o </a:t>
            </a:r>
            <a:r>
              <a:rPr sz="1300" b="1" i="0">
                <a:solidFill>
                  <a:srgbClr val="1A2233"/>
                </a:solidFill>
                <a:latin typeface="Inter"/>
              </a:rPr>
              <a:t>vizinho de porta do 52, no mesmo 5º andar</a:t>
            </a:r>
            <a:r>
              <a:rPr sz="1300" b="0" i="0">
                <a:solidFill>
                  <a:srgbClr val="3A4258"/>
                </a:solidFill>
                <a:latin typeface="Inter"/>
              </a:rPr>
              <a:t>: mesma área, mesma safra, mesmo condomínio, mesmo lazer. Corrigido pelo índice do micro-mercado, indica </a:t>
            </a:r>
            <a:r>
              <a:rPr sz="1300" b="1" i="0">
                <a:solidFill>
                  <a:srgbClr val="1A2233"/>
                </a:solidFill>
                <a:latin typeface="Inter"/>
              </a:rPr>
              <a:t>R$ 1.308.000 (base 2025) a R$ 1.506.000 (base 2026 parcial)</a:t>
            </a:r>
            <a:r>
              <a:rPr sz="1300" b="0" i="0">
                <a:solidFill>
                  <a:srgbClr val="3A4258"/>
                </a:solidFill>
                <a:latin typeface="Inter"/>
              </a:rPr>
              <a:t> para o alvo hoje — antes dos diferenciais de conservação.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212080"/>
            <a:ext cx="11057839" cy="8686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212080"/>
            <a:ext cx="54864" cy="8686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358384"/>
            <a:ext cx="10692079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1A2233"/>
                </a:solidFill>
                <a:latin typeface="Inter"/>
              </a:rPr>
              <a:t>Sobre o AP 61 (R$ 800 mil): </a:t>
            </a:r>
            <a:r>
              <a:rPr sz="1150" b="0" i="0">
                <a:solidFill>
                  <a:srgbClr val="3A4258"/>
                </a:solidFill>
                <a:latin typeface="Inter"/>
              </a:rPr>
              <a:t>transação isolada abaixo do próprio valor venal do prédio (R$ 1,10 mi) — padrão de venda atípica. Se um comprador citar, a resposta está pronta: contra ela há uma venda de mercado no mesmo andar a R$ 1,325 mi.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COMPARÁVEIS DE MAIOR ADERÊNCIA · VENDAS REGISTRADAS (ITBI)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012A6E"/>
                </a:solidFill>
                <a:latin typeface="Inter"/>
              </a:rPr>
              <a:t>Os 5 imóveis mais parecidos, já vendidos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74519"/>
          <a:ext cx="110642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4206240"/>
                <a:gridCol w="1280160"/>
                <a:gridCol w="1005840"/>
                <a:gridCol w="13716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#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Endereço (vendido)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Área cad.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Ano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Distância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Inter"/>
                        </a:rPr>
                        <a:t>Venda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R. Prof. Vahia de Abreu, 383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203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1994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390 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R$ 1.125.000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R. Prof. Vahia de Abreu, 383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203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1994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390 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R$ 1.150.000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Av. dos Eucaliptos, 113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214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1996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789 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R$ 1.300.000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Av. dos Eucaliptos, 113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216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1996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789 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R$ 2.000.000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Av. dos Eucaliptos, 155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205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1995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829 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A4258"/>
                          </a:solidFill>
                          <a:latin typeface="Inter"/>
                        </a:rPr>
                        <a:t>R$ 1.150.000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2233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A2233"/>
                          </a:solidFill>
                          <a:latin typeface="Inter"/>
                        </a:rPr>
                        <a:t>Mediana dos 20 comparáveis de maior aderência (12 prédios)</a:t>
                      </a:r>
                    </a:p>
                  </a:txBody>
                  <a:tcPr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A2233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A2233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A2233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A2233"/>
                          </a:solidFill>
                          <a:latin typeface="Inter"/>
                        </a:rPr>
                        <a:t>R$ 1.300.000</a:t>
                      </a:r>
                    </a:p>
                  </a:txBody>
                  <a:tcPr marL="73152" marR="73152" marT="27432" marB="27432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66344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DC1431"/>
                </a:solidFill>
                <a:latin typeface="Inter"/>
              </a:rPr>
              <a:t>Sinal de amostra estável: </a:t>
            </a:r>
            <a:r>
              <a:rPr sz="1250" b="0" i="0">
                <a:solidFill>
                  <a:srgbClr val="3A4258"/>
                </a:solidFill>
                <a:latin typeface="Inter"/>
              </a:rPr>
              <a:t>o Top 20 e o recorte completo (62 vendas) dão o mesmo número — R$ 1.300.000. O Top 5 fica abaixo por concentrar no prédio gêmeo, de alta rotatividade e patamar inferior ao Manuela.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39496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7D8AA3"/>
                </a:solidFill>
                <a:latin typeface="Inter"/>
              </a:rPr>
              <a:t>Fonte: ITBI/PMSP 2024–2026, rastreável por SQL cadastral. Aderência: 40% área · 25% época · 25% distância · 10% recência, com diversidade de prédios.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A TESE CENTRAL · POR QUE PRECIFICAR CERTO PROTEGE O SEU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700" b="1" i="0">
                <a:solidFill>
                  <a:srgbClr val="012A6E"/>
                </a:solidFill>
                <a:latin typeface="Inter"/>
              </a:rPr>
              <a:t>O mercado fecha 25–30% abaixo do anúncio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3A4258"/>
                </a:solidFill>
                <a:latin typeface="Inter"/>
              </a:rPr>
              <a:t>Na régua que o comprador usa (R$/m² útil), a faixa sugerida posiciona o seu apartamento </a:t>
            </a:r>
            <a:r>
              <a:rPr sz="1300" b="1" i="0">
                <a:solidFill>
                  <a:srgbClr val="1A2233"/>
                </a:solidFill>
                <a:latin typeface="Inter"/>
              </a:rPr>
              <a:t>no meio exato do mercado ofertado</a:t>
            </a:r>
            <a:r>
              <a:rPr sz="1300" b="0" i="0">
                <a:solidFill>
                  <a:srgbClr val="3A4258"/>
                </a:solidFill>
                <a:latin typeface="Inter"/>
              </a:rPr>
              <a:t> — logo abaixo do concorrente direto da mesma rua: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77440"/>
          <a:ext cx="11064240" cy="243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188720"/>
                <a:gridCol w="1920240"/>
                <a:gridCol w="210312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Concorrente (ofertas ativas)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Área útil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Pedido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R$/m² útil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vs. nosso anúncio</a:t>
                      </a:r>
                    </a:p>
                  </a:txBody>
                  <a:tcPr marL="73152" marR="73152" marT="27432" marB="27432">
                    <a:solidFill>
                      <a:srgbClr val="012A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R. do Rocio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112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R$ 2.499.000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R$ 22.313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muito acima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R. Alvorada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109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R$ 2.200.000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R$ 20.183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muito acima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R. Alvorada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109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R$ 1.700.000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R$ 15.596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logo acima do nosso teto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SEU IMÓVEL (sugerido)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113 m²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R$ 1,55–1,70 mi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R$ 13.717–15.044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003DA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R. Casa do Ator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115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R$ 1.280.000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R$ 11.130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abaixo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R. Alvorada (1 vaga)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110 m²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R$ 1.170.000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R$ 10.636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A4258"/>
                          </a:solidFill>
                          <a:latin typeface="Inter"/>
                        </a:rPr>
                        <a:t>abaixo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29200"/>
            <a:ext cx="11057839" cy="105156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0160">
            <a:solidFill>
              <a:srgbClr val="C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029200"/>
            <a:ext cx="54864" cy="105156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175504"/>
            <a:ext cx="1069207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3A4258"/>
                </a:solidFill>
                <a:latin typeface="Inter"/>
              </a:rPr>
              <a:t>Ofertas do entorno pedem mediana de ~R$ 1,70 mi; os fechamentos reais equivalentes ficam em R$ 1,20–1,65 mi (mediana R$ 1,31 mi) — </a:t>
            </a:r>
            <a:r>
              <a:rPr sz="1150" b="1" i="0">
                <a:solidFill>
                  <a:srgbClr val="1A2233"/>
                </a:solidFill>
                <a:latin typeface="Inter"/>
              </a:rPr>
              <a:t>gap de 25–30%</a:t>
            </a:r>
            <a:r>
              <a:rPr sz="1150" b="0" i="0">
                <a:solidFill>
                  <a:srgbClr val="3A4258"/>
                </a:solidFill>
                <a:latin typeface="Inter"/>
              </a:rPr>
              <a:t>. Anunciar acima do que o mercado paga gera menos visitas, mais prazo e maior perda ao final. </a:t>
            </a:r>
            <a:r>
              <a:rPr sz="1150" b="1" i="0">
                <a:solidFill>
                  <a:srgbClr val="1A2233"/>
                </a:solidFill>
                <a:latin typeface="Inter"/>
              </a:rPr>
              <a:t>Precificar certo desde o início protege o seu patrimônio.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9FC0FF"/>
                </a:solidFill>
                <a:latin typeface="Inter"/>
              </a:rPr>
              <a:t>SUGESTÃO RE/MAX GALERIA · RECOMENDAÇÃO DE PRECIFICAÇÃO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FE0FF"/>
                </a:solidFill>
                <a:latin typeface="Inter"/>
              </a:rPr>
              <a:t>Anúncio recomendado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 i="0">
                <a:solidFill>
                  <a:srgbClr val="9FC0FF"/>
                </a:solidFill>
                <a:latin typeface="Inter"/>
              </a:rPr>
              <a:t>R$ </a:t>
            </a:r>
            <a:r>
              <a:rPr sz="5400" b="1" i="0">
                <a:solidFill>
                  <a:srgbClr val="FFFFFF"/>
                </a:solidFill>
                <a:latin typeface="Inter"/>
              </a:rPr>
              <a:t>1,55–1,70</a:t>
            </a:r>
            <a:r>
              <a:rPr sz="5400" b="1" i="0">
                <a:solidFill>
                  <a:srgbClr val="9FC0FF"/>
                </a:solidFill>
                <a:latin typeface="Inter"/>
              </a:rPr>
              <a:t> 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143000"/>
            <a:ext cx="4657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FE0FF"/>
                </a:solidFill>
                <a:latin typeface="Inter"/>
              </a:rPr>
              <a:t>Fechamento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46304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9FC0FF"/>
                </a:solidFill>
                <a:latin typeface="Inter"/>
              </a:rPr>
              <a:t>R$ </a:t>
            </a:r>
            <a:r>
              <a:rPr sz="4000" b="1" i="0">
                <a:solidFill>
                  <a:srgbClr val="FFFFFF"/>
                </a:solidFill>
                <a:latin typeface="Inter"/>
              </a:rPr>
              <a:t>1,35–1,50</a:t>
            </a:r>
            <a:r>
              <a:rPr sz="4000" b="1" i="0">
                <a:solidFill>
                  <a:srgbClr val="9FC0FF"/>
                </a:solidFill>
                <a:latin typeface="Inter"/>
              </a:rPr>
              <a:t>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9FC0FF"/>
                </a:solidFill>
                <a:latin typeface="Inter"/>
              </a:rPr>
              <a:t>A RÉGUA COMPLETA DE VALOR (R$ MILHÕES)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54680"/>
            <a:ext cx="2050633" cy="1234440"/>
          </a:xfrm>
          <a:prstGeom prst="roundRect">
            <a:avLst>
              <a:gd name="adj" fmla="val 10000"/>
            </a:avLst>
          </a:prstGeom>
          <a:solidFill>
            <a:srgbClr val="013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55848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R$ 1,70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867912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CFE0FF"/>
                </a:solidFill>
                <a:latin typeface="Inter"/>
              </a:rPr>
              <a:t>Anúncio — teto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8729" y="3154680"/>
            <a:ext cx="2050633" cy="1234440"/>
          </a:xfrm>
          <a:prstGeom prst="roundRect">
            <a:avLst>
              <a:gd name="adj" fmla="val 10000"/>
            </a:avLst>
          </a:prstGeom>
          <a:solidFill>
            <a:srgbClr val="013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0169" y="3355848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R$ 1,55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0169" y="3867912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CFE0FF"/>
                </a:solidFill>
                <a:latin typeface="Inter"/>
              </a:rPr>
              <a:t>Anúncio — piso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0530" y="3154680"/>
            <a:ext cx="2050633" cy="1234440"/>
          </a:xfrm>
          <a:prstGeom prst="roundRect">
            <a:avLst>
              <a:gd name="adj" fmla="val 10000"/>
            </a:avLst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1970" y="3355848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R$ 1,35–1,50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1970" y="3867912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D9DF"/>
                </a:solidFill>
                <a:latin typeface="Inter"/>
              </a:rPr>
              <a:t>Fechamento esperado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2332" y="3154680"/>
            <a:ext cx="2050633" cy="1234440"/>
          </a:xfrm>
          <a:prstGeom prst="roundRect">
            <a:avLst>
              <a:gd name="adj" fmla="val 10000"/>
            </a:avLst>
          </a:prstGeom>
          <a:solidFill>
            <a:srgbClr val="013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3772" y="3355848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R$ 1,25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3772" y="3867912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CFE0FF"/>
                </a:solidFill>
                <a:latin typeface="Inter"/>
              </a:rPr>
              <a:t>Piso de negociação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4133" y="3154680"/>
            <a:ext cx="2050633" cy="1234440"/>
          </a:xfrm>
          <a:prstGeom prst="roundRect">
            <a:avLst>
              <a:gd name="adj" fmla="val 10000"/>
            </a:avLst>
          </a:prstGeom>
          <a:solidFill>
            <a:srgbClr val="013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5573" y="3355848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R$ 1,10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573" y="3867912"/>
            <a:ext cx="1867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CFE0FF"/>
                </a:solidFill>
                <a:latin typeface="Inter"/>
              </a:rPr>
              <a:t>Venal oficial (IPTU)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709160"/>
            <a:ext cx="54864" cy="137160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754880"/>
            <a:ext cx="106006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A régua é o seu próprio prédio: </a:t>
            </a:r>
            <a:r>
              <a:rPr sz="1250" b="0" i="0">
                <a:solidFill>
                  <a:srgbClr val="CFE0FF"/>
                </a:solidFill>
                <a:latin typeface="Inter"/>
              </a:rPr>
              <a:t>a venda do AP 51 corrigida (R$ 1,31–1,51 mi) mais os diferenciais do 52 — conservação boa (+3 a +6%) e ventilação cruzada (+2 a +4%).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Anunciar a R$ 1,55–1,70 mi posiciona na faixa do concorrente de R$ 1,70 mi da mesma rua, com ~15% de reserva. </a:t>
            </a:r>
            <a:r>
              <a:rPr sz="1250" b="1" i="0">
                <a:solidFill>
                  <a:srgbClr val="FFFFFF"/>
                </a:solidFill>
                <a:latin typeface="Inter"/>
              </a:rPr>
              <a:t>Não descer abaixo de R$ 1,25 mi</a:t>
            </a:r>
            <a:r>
              <a:rPr sz="1250" b="0" i="0">
                <a:solidFill>
                  <a:srgbClr val="CFE0FF"/>
                </a:solidFill>
                <a:latin typeface="Inter"/>
              </a:rPr>
              <a:t> — defendido pelo venal oficial e pela venda do vizinho.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Inter"/>
              </a:rPr>
              <a:t>RE/</a:t>
            </a:r>
            <a:r>
              <a:rPr sz="1050" b="1">
                <a:solidFill>
                  <a:srgbClr val="FF5A73"/>
                </a:solidFill>
                <a:latin typeface="Inter"/>
              </a:rPr>
              <a:t>MAX</a:t>
            </a:r>
            <a:r>
              <a:rPr sz="1050" b="1">
                <a:solidFill>
                  <a:srgbClr val="FFFFFF"/>
                </a:solidFill>
                <a:latin typeface="Inter"/>
              </a:rPr>
              <a:t> Galeria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CFE0FF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1431"/>
                </a:solidFill>
                <a:latin typeface="Inter"/>
              </a:rPr>
              <a:t>ESTRATÉGIA DE VENDA ·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012A6E"/>
                </a:solidFill>
                <a:latin typeface="Inter"/>
              </a:rPr>
              <a:t>Do contrato à venda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1965960"/>
            <a:ext cx="457200" cy="457200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84248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Assinatura do contrato de representação exclusiva.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807208"/>
            <a:ext cx="457200" cy="457200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25496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Análise jurídica da documentação (due diligence) — carnê de IPTU do apto 52 e averbação das 2 vagas na matrícula.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48456"/>
            <a:ext cx="457200" cy="457200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666744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Montagem do plano de marketing e produção do material profissional (fotos, filme e tour virtual).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489704"/>
            <a:ext cx="457200" cy="457200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507992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 i="0">
                <a:solidFill>
                  <a:srgbClr val="3A4258"/>
                </a:solidFill>
                <a:latin typeface="Inter"/>
              </a:rPr>
              <a:t>Implementação e início dos trabalhos — anúncio entre R$ 1,55 e 1,70 mi, com revisão em ciclos de 45–60 dias.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330952"/>
            <a:ext cx="457200" cy="457200"/>
          </a:xfrm>
          <a:prstGeom prst="ellipse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5349240"/>
            <a:ext cx="101434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i="0">
                <a:solidFill>
                  <a:srgbClr val="DC1431"/>
                </a:solidFill>
                <a:latin typeface="Inter"/>
              </a:rPr>
              <a:t>VENDA — fechamento entre R$ 1,35 e R$ 1,50 milhão (piso R$ 1,25 mi).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003DA5"/>
                </a:solidFill>
                <a:latin typeface="Inter"/>
              </a:rPr>
              <a:t>RE/</a:t>
            </a:r>
            <a:r>
              <a:rPr sz="1050" b="1">
                <a:solidFill>
                  <a:srgbClr val="DC1431"/>
                </a:solidFill>
                <a:latin typeface="Inter"/>
              </a:rPr>
              <a:t>MAX</a:t>
            </a:r>
            <a:r>
              <a:rPr sz="1050" b="1">
                <a:solidFill>
                  <a:srgbClr val="003DA5"/>
                </a:solidFill>
                <a:latin typeface="Inter"/>
              </a:rPr>
              <a:t> Galeria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7D8AA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914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186" y="0"/>
            <a:ext cx="3657508" cy="9144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9FC0FF"/>
                </a:solidFill>
                <a:latin typeface="Inter"/>
              </a:rPr>
              <a:t>RE/MAX GALERIA · MOEMA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Obrigada, Dorothy.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 i="0">
                <a:solidFill>
                  <a:srgbClr val="CFE0FF"/>
                </a:solidFill>
                <a:latin typeface="Inter"/>
              </a:rPr>
              <a:t>Se deseja vender seu imóvel com </a:t>
            </a:r>
            <a:r>
              <a:rPr sz="1800" b="1" i="0">
                <a:solidFill>
                  <a:srgbClr val="FFFFFF"/>
                </a:solidFill>
                <a:latin typeface="Inter"/>
              </a:rPr>
              <a:t>gestão profissional focada em resultados</a:t>
            </a:r>
            <a:r>
              <a:rPr sz="1800" b="0" i="0">
                <a:solidFill>
                  <a:srgbClr val="CFE0FF"/>
                </a:solidFill>
                <a:latin typeface="Inter"/>
              </a:rPr>
              <a:t>, fale comigo.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657600"/>
            <a:ext cx="54864" cy="1051560"/>
          </a:xfrm>
          <a:prstGeom prst="rect">
            <a:avLst/>
          </a:prstGeom>
          <a:solidFill>
            <a:srgbClr val="DC1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7033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 i="1">
                <a:solidFill>
                  <a:srgbClr val="CFE0FF"/>
                </a:solidFill>
                <a:latin typeface="Inter"/>
              </a:rPr>
              <a:t>RE/MAX Galeria — conectando pessoas aos melhores negócios imobiliários por um modelo de gestão eficiente, transparente e orientado por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66344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Luciana Borba</a:t>
            </a:r>
          </a:p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Consultora Imobiliária · RE/MAX Galeria · (11) 99995-2014</a:t>
            </a:r>
          </a:p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CFE0FF"/>
                </a:solidFill>
                <a:latin typeface="Inter"/>
              </a:rPr>
              <a:t>lucianaborba@remax.com.br</a:t>
            </a:r>
          </a:p>
          <a:p>
            <a:pPr algn="r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9FC0FF"/>
                </a:solidFill>
                <a:latin typeface="Inter"/>
              </a:rPr>
              <a:t>CRECI: 045063-J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94960"/>
            <a:ext cx="365760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Inter"/>
              </a:rPr>
              <a:t>RE/</a:t>
            </a:r>
            <a:r>
              <a:rPr sz="2600" b="1">
                <a:solidFill>
                  <a:srgbClr val="FF5A73"/>
                </a:solidFill>
                <a:latin typeface="Inter"/>
              </a:rPr>
              <a:t>MAX</a:t>
            </a:r>
          </a:p>
          <a:p>
            <a:r>
              <a:rPr sz="1100" b="1">
                <a:solidFill>
                  <a:srgbClr val="9FC0FF"/>
                </a:solidFill>
                <a:latin typeface="Inter"/>
              </a:rPr>
              <a:t>GALERIA · MOEMA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